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E24"/>
        </a:solidFill>
        <a:effectLst/>
      </p:bgPr>
    </p:bg>
    <p:spTree>
      <p:nvGrpSpPr>
        <p:cNvPr id="1" name=""/>
        <p:cNvGrpSpPr/>
        <p:nvPr/>
      </p:nvGrpSpPr>
      <p:grpSpPr/>
      <p:sp>
        <p:nvSpPr>
          <p:cNvPr id="2" name="TextBox 1"/>
          <p:cNvSpPr txBox="1"/>
          <p:nvPr/>
        </p:nvSpPr>
        <p:spPr>
          <a:xfrm>
            <a:off x="1005840" y="2148840"/>
            <a:ext cx="10058400" cy="2377440"/>
          </a:xfrm>
          <a:prstGeom prst="rect">
            <a:avLst/>
          </a:prstGeom>
          <a:noFill/>
        </p:spPr>
        <p:txBody>
          <a:bodyPr wrap="square" lIns="0" rIns="0" tIns="0" bIns="0">
            <a:spAutoFit/>
          </a:bodyPr>
          <a:lstStyle/>
          <a:p>
            <a:pPr algn="l">
              <a:spcBef>
                <a:spcPts val="0"/>
              </a:spcBef>
              <a:spcAft>
                <a:spcPts val="1600"/>
              </a:spcAft>
            </a:pPr>
            <a:r>
              <a:rPr sz="1300" b="1">
                <a:solidFill>
                  <a:srgbClr val="8AA393"/>
                </a:solidFill>
                <a:latin typeface="Aptos"/>
              </a:rPr>
              <a:t>SEMILLAS TUNICHE · PRUEBA DE CONCEPTO</a:t>
            </a:r>
          </a:p>
          <a:p>
            <a:pPr algn="l">
              <a:spcBef>
                <a:spcPts val="0"/>
              </a:spcBef>
              <a:spcAft>
                <a:spcPts val="200"/>
              </a:spcAft>
            </a:pPr>
            <a:r>
              <a:rPr sz="4000" b="1">
                <a:solidFill>
                  <a:srgbClr val="FFFFFF"/>
                </a:solidFill>
                <a:latin typeface="Aptos"/>
              </a:rPr>
              <a:t>De un audio en la camioneta</a:t>
            </a:r>
          </a:p>
          <a:p>
            <a:pPr algn="l">
              <a:spcBef>
                <a:spcPts val="0"/>
              </a:spcBef>
              <a:spcAft>
                <a:spcPts val="1800"/>
              </a:spcAft>
            </a:pPr>
            <a:r>
              <a:rPr sz="4000" b="1">
                <a:solidFill>
                  <a:srgbClr val="5FC08D"/>
                </a:solidFill>
                <a:latin typeface="Aptos"/>
              </a:rPr>
              <a:t>al historial del agricultor</a:t>
            </a:r>
          </a:p>
          <a:p>
            <a:pPr algn="l">
              <a:spcBef>
                <a:spcPts val="0"/>
              </a:spcBef>
              <a:spcAft>
                <a:spcPts val="0"/>
              </a:spcAft>
            </a:pPr>
            <a:r>
              <a:rPr sz="1600" b="0">
                <a:solidFill>
                  <a:srgbClr val="B9C8BF"/>
                </a:solidFill>
                <a:latin typeface="Aptos"/>
              </a:rPr>
              <a:t>Sistema de visitas a campo · Mercado Nacional y Producción Altué</a:t>
            </a:r>
          </a:p>
        </p:txBody>
      </p:sp>
      <p:sp>
        <p:nvSpPr>
          <p:cNvPr id="3" name="TextBox 2"/>
          <p:cNvSpPr txBox="1"/>
          <p:nvPr/>
        </p:nvSpPr>
        <p:spPr>
          <a:xfrm>
            <a:off x="1005840" y="5852160"/>
            <a:ext cx="10058400" cy="457200"/>
          </a:xfrm>
          <a:prstGeom prst="rect">
            <a:avLst/>
          </a:prstGeom>
          <a:noFill/>
        </p:spPr>
        <p:txBody>
          <a:bodyPr wrap="square" lIns="0" rIns="0" tIns="0" bIns="0">
            <a:spAutoFit/>
          </a:bodyPr>
          <a:lstStyle/>
          <a:p>
            <a:pPr algn="l">
              <a:spcBef>
                <a:spcPts val="0"/>
              </a:spcBef>
              <a:spcAft>
                <a:spcPts val="0"/>
              </a:spcAft>
            </a:pPr>
            <a:r>
              <a:rPr sz="1200" b="0">
                <a:solidFill>
                  <a:srgbClr val="7E948A"/>
                </a:solidFill>
                <a:latin typeface="Aptos"/>
              </a:rPr>
              <a:t>adoOps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2</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EL PROBLEMA</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La información de cada visita existe.
Lo que no existe es dónde consultarla.</a:t>
            </a:r>
          </a:p>
        </p:txBody>
      </p:sp>
      <p:sp>
        <p:nvSpPr>
          <p:cNvPr id="5" name="Rounded Rectangle 4"/>
          <p:cNvSpPr/>
          <p:nvPr/>
        </p:nvSpPr>
        <p:spPr>
          <a:xfrm>
            <a:off x="822960" y="2880360"/>
            <a:ext cx="10515600" cy="150876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3154680"/>
            <a:ext cx="9692640" cy="1097280"/>
          </a:xfrm>
          <a:prstGeom prst="rect">
            <a:avLst/>
          </a:prstGeom>
          <a:noFill/>
        </p:spPr>
        <p:txBody>
          <a:bodyPr wrap="square" lIns="0" rIns="0" tIns="0" bIns="0">
            <a:spAutoFit/>
          </a:bodyPr>
          <a:lstStyle/>
          <a:p>
            <a:pPr algn="l">
              <a:spcBef>
                <a:spcPts val="0"/>
              </a:spcBef>
              <a:spcAft>
                <a:spcPts val="0"/>
              </a:spcAft>
            </a:pPr>
            <a:r>
              <a:rPr sz="1900" b="1">
                <a:solidFill>
                  <a:srgbClr val="2F6F4E"/>
                </a:solidFill>
                <a:latin typeface="Aptos"/>
              </a:rPr>
              <a:t>«Muchas veces la forma que tengo yo para ver en qué estaba con el agricultor es ver las conversaciones de WhatsApp que tenía con él.»</a:t>
            </a:r>
          </a:p>
          <a:p>
            <a:pPr algn="l">
              <a:spcBef>
                <a:spcPts val="800"/>
              </a:spcBef>
              <a:spcAft>
                <a:spcPts val="0"/>
              </a:spcAft>
            </a:pPr>
            <a:r>
              <a:rPr sz="1200" b="0">
                <a:solidFill>
                  <a:srgbClr val="47584D"/>
                </a:solidFill>
                <a:latin typeface="Aptos"/>
              </a:rPr>
              <a:t>Francisco Pinochet · Mercado Nacional</a:t>
            </a:r>
          </a:p>
        </p:txBody>
      </p:sp>
      <p:sp>
        <p:nvSpPr>
          <p:cNvPr id="7" name="TextBox 6"/>
          <p:cNvSpPr txBox="1"/>
          <p:nvPr/>
        </p:nvSpPr>
        <p:spPr>
          <a:xfrm>
            <a:off x="822960" y="4709160"/>
            <a:ext cx="10515600" cy="1280160"/>
          </a:xfrm>
          <a:prstGeom prst="rect">
            <a:avLst/>
          </a:prstGeom>
          <a:noFill/>
        </p:spPr>
        <p:txBody>
          <a:bodyPr wrap="square" lIns="0" rIns="0" tIns="0" bIns="0">
            <a:spAutoFit/>
          </a:bodyPr>
          <a:lstStyle/>
          <a:p>
            <a:pPr algn="l">
              <a:spcBef>
                <a:spcPts val="0"/>
              </a:spcBef>
              <a:spcAft>
                <a:spcPts val="0"/>
              </a:spcAft>
            </a:pPr>
            <a:r>
              <a:rPr sz="1600" b="0">
                <a:solidFill>
                  <a:srgbClr val="47584D"/>
                </a:solidFill>
                <a:latin typeface="Aptos"/>
              </a:rPr>
              <a:t>El momento en que eso duele es concreto: cuando al agricultor le va mal y no se acuerda de que algo se hizo mal. Ahí hace falta poder decir «mira, esta es la trazabilidad de tu campo».</a:t>
            </a:r>
          </a:p>
          <a:p>
            <a:pPr algn="l">
              <a:spcBef>
                <a:spcPts val="1000"/>
              </a:spcBef>
              <a:spcAft>
                <a:spcPts val="0"/>
              </a:spcAft>
            </a:pPr>
            <a:r>
              <a:rPr sz="1600" b="1">
                <a:solidFill>
                  <a:srgbClr val="B45309"/>
                </a:solidFill>
                <a:latin typeface="Aptos"/>
              </a:rPr>
              <a:t>Hoy no se puede.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3</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LA DECISIÓN DE DISEÑO</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El audio no es la novedad. Es lo único que ya funciona.</a:t>
            </a:r>
          </a:p>
        </p:txBody>
      </p:sp>
      <p:sp>
        <p:nvSpPr>
          <p:cNvPr id="5" name="Rounded Rectangle 4"/>
          <p:cNvSpPr/>
          <p:nvPr/>
        </p:nvSpPr>
        <p:spPr>
          <a:xfrm>
            <a:off x="822960" y="2651760"/>
            <a:ext cx="5029200" cy="265176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971800"/>
            <a:ext cx="4206240" cy="2103120"/>
          </a:xfrm>
          <a:prstGeom prst="rect">
            <a:avLst/>
          </a:prstGeom>
          <a:noFill/>
        </p:spPr>
        <p:txBody>
          <a:bodyPr wrap="square" lIns="0" rIns="0" tIns="0" bIns="0">
            <a:spAutoFit/>
          </a:bodyPr>
          <a:lstStyle/>
          <a:p>
            <a:pPr algn="l">
              <a:spcBef>
                <a:spcPts val="0"/>
              </a:spcBef>
              <a:spcAft>
                <a:spcPts val="1000"/>
              </a:spcAft>
            </a:pPr>
            <a:r>
              <a:rPr sz="1700" b="1">
                <a:solidFill>
                  <a:srgbClr val="2F6F4E"/>
                </a:solidFill>
                <a:latin typeface="Aptos"/>
              </a:rPr>
              <a:t>Lo que ya hacen</a:t>
            </a:r>
          </a:p>
          <a:p>
            <a:pPr algn="l">
              <a:spcBef>
                <a:spcPts val="0"/>
              </a:spcBef>
              <a:spcAft>
                <a:spcPts val="0"/>
              </a:spcAft>
            </a:pPr>
            <a:r>
              <a:rPr sz="1400" b="0">
                <a:solidFill>
                  <a:srgbClr val="47584D"/>
                </a:solidFill>
                <a:latin typeface="Aptos"/>
              </a:rPr>
              <a:t>Mandar un audio o una foto por WhatsApp, apenas terminan de recorrer el campo.
Está probado: es el canal que el agricultor prefiere y el que el zonal alcanza a usar.</a:t>
            </a:r>
          </a:p>
        </p:txBody>
      </p:sp>
      <p:sp>
        <p:nvSpPr>
          <p:cNvPr id="7" name="Rounded Rectangle 6"/>
          <p:cNvSpPr/>
          <p:nvPr/>
        </p:nvSpPr>
        <p:spPr>
          <a:xfrm>
            <a:off x="6263640" y="2651760"/>
            <a:ext cx="5029200" cy="265176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971800"/>
            <a:ext cx="4206240" cy="2103120"/>
          </a:xfrm>
          <a:prstGeom prst="rect">
            <a:avLst/>
          </a:prstGeom>
          <a:noFill/>
        </p:spPr>
        <p:txBody>
          <a:bodyPr wrap="square" lIns="0" rIns="0" tIns="0" bIns="0">
            <a:spAutoFit/>
          </a:bodyPr>
          <a:lstStyle/>
          <a:p>
            <a:pPr algn="l">
              <a:spcBef>
                <a:spcPts val="0"/>
              </a:spcBef>
              <a:spcAft>
                <a:spcPts val="1000"/>
              </a:spcAft>
            </a:pPr>
            <a:r>
              <a:rPr sz="1700" b="1">
                <a:solidFill>
                  <a:srgbClr val="B45309"/>
                </a:solidFill>
                <a:latin typeface="Aptos"/>
              </a:rPr>
              <a:t>Lo que no va a pasar</a:t>
            </a:r>
          </a:p>
          <a:p>
            <a:pPr algn="l">
              <a:spcBef>
                <a:spcPts val="0"/>
              </a:spcBef>
              <a:spcAft>
                <a:spcPts val="0"/>
              </a:spcAft>
            </a:pPr>
            <a:r>
              <a:rPr sz="1400" b="0">
                <a:solidFill>
                  <a:srgbClr val="47584D"/>
                </a:solidFill>
                <a:latin typeface="Aptos"/>
              </a:rPr>
              <a:t>Abrir una app y llenar un formulario de 20 campos arriba de la camioneta.
Cualquier sistema que pida algo nuevo del zonal se deja de usar en dos semanas.</a:t>
            </a:r>
          </a:p>
        </p:txBody>
      </p:sp>
      <p:sp>
        <p:nvSpPr>
          <p:cNvPr id="9" name="TextBox 8"/>
          <p:cNvSpPr txBox="1"/>
          <p:nvPr/>
        </p:nvSpPr>
        <p:spPr>
          <a:xfrm>
            <a:off x="822960" y="5623560"/>
            <a:ext cx="10515600" cy="731520"/>
          </a:xfrm>
          <a:prstGeom prst="rect">
            <a:avLst/>
          </a:prstGeom>
          <a:noFill/>
        </p:spPr>
        <p:txBody>
          <a:bodyPr wrap="square" lIns="0" rIns="0" tIns="0" bIns="0">
            <a:spAutoFit/>
          </a:bodyPr>
          <a:lstStyle/>
          <a:p>
            <a:pPr algn="l">
              <a:spcBef>
                <a:spcPts val="0"/>
              </a:spcBef>
              <a:spcAft>
                <a:spcPts val="0"/>
              </a:spcAft>
            </a:pPr>
            <a:r>
              <a:rPr sz="1600" b="1">
                <a:solidFill>
                  <a:srgbClr val="16211A"/>
                </a:solidFill>
                <a:latin typeface="Aptos"/>
              </a:rPr>
              <a:t>La IA no es el producto: es el puente entre lo que ya hacen (hablar) y lo que necesitan (un registro consultable).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4</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LO QUE USTEDES MANDARON</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Dos áreas, dos vocabularios, un mismo recorrido</a:t>
            </a:r>
          </a:p>
        </p:txBody>
      </p:sp>
      <p:sp>
        <p:nvSpPr>
          <p:cNvPr id="5" name="Rounded Rectangle 4"/>
          <p:cNvSpPr/>
          <p:nvPr/>
        </p:nvSpPr>
        <p:spPr>
          <a:xfrm>
            <a:off x="822960" y="2468880"/>
            <a:ext cx="5029200" cy="30632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743200"/>
            <a:ext cx="4206240" cy="2560320"/>
          </a:xfrm>
          <a:prstGeom prst="rect">
            <a:avLst/>
          </a:prstGeom>
          <a:noFill/>
        </p:spPr>
        <p:txBody>
          <a:bodyPr wrap="square" lIns="0" rIns="0" tIns="0" bIns="0">
            <a:spAutoFit/>
          </a:bodyPr>
          <a:lstStyle/>
          <a:p>
            <a:pPr algn="l">
              <a:spcBef>
                <a:spcPts val="0"/>
              </a:spcBef>
              <a:spcAft>
                <a:spcPts val="1200"/>
              </a:spcAft>
            </a:pPr>
            <a:r>
              <a:rPr sz="1300" b="1">
                <a:solidFill>
                  <a:srgbClr val="2F6F4E"/>
                </a:solidFill>
                <a:latin typeface="Aptos"/>
              </a:rPr>
              <a:t>MERCADO NACIONAL · Francisco</a:t>
            </a:r>
          </a:p>
          <a:p>
            <a:pPr algn="l">
              <a:spcBef>
                <a:spcPts val="0"/>
              </a:spcBef>
              <a:spcAft>
                <a:spcPts val="700"/>
              </a:spcAft>
            </a:pPr>
            <a:r>
              <a:rPr sz="1350" b="0">
                <a:solidFill>
                  <a:srgbClr val="47584D"/>
                </a:solidFill>
                <a:latin typeface="Aptos"/>
              </a:rPr>
              <a:t>·  Maíz de grano y silo, vía distribuidores</a:t>
            </a:r>
          </a:p>
          <a:p>
            <a:pPr algn="l">
              <a:spcBef>
                <a:spcPts val="0"/>
              </a:spcBef>
              <a:spcAft>
                <a:spcPts val="700"/>
              </a:spcAft>
            </a:pPr>
            <a:r>
              <a:rPr sz="1350" b="0">
                <a:solidFill>
                  <a:srgbClr val="47584D"/>
                </a:solidFill>
                <a:latin typeface="Aptos"/>
              </a:rPr>
              <a:t>·  Hoy: sin sistema. WhatsApp, fotos y dron</a:t>
            </a:r>
          </a:p>
          <a:p>
            <a:pPr algn="l">
              <a:spcBef>
                <a:spcPts val="0"/>
              </a:spcBef>
              <a:spcAft>
                <a:spcPts val="700"/>
              </a:spcAft>
            </a:pPr>
            <a:r>
              <a:rPr sz="1350" b="0">
                <a:solidFill>
                  <a:srgbClr val="47584D"/>
                </a:solidFill>
                <a:latin typeface="Aptos"/>
              </a:rPr>
              <a:t>·  Mide el tiempo en etapa fenológica</a:t>
            </a:r>
          </a:p>
          <a:p>
            <a:pPr algn="l">
              <a:spcBef>
                <a:spcPts val="0"/>
              </a:spcBef>
              <a:spcAft>
                <a:spcPts val="700"/>
              </a:spcAft>
            </a:pPr>
            <a:r>
              <a:rPr sz="1350" b="0">
                <a:solidFill>
                  <a:srgbClr val="47584D"/>
                </a:solidFill>
                <a:latin typeface="Aptos"/>
              </a:rPr>
              <a:t>·  Presiembra → Siembra → Emergencia → V2 → V4 → V6 → V8 → R1 → R5</a:t>
            </a:r>
          </a:p>
        </p:txBody>
      </p:sp>
      <p:sp>
        <p:nvSpPr>
          <p:cNvPr id="7" name="Rounded Rectangle 6"/>
          <p:cNvSpPr/>
          <p:nvPr/>
        </p:nvSpPr>
        <p:spPr>
          <a:xfrm>
            <a:off x="6263640" y="2468880"/>
            <a:ext cx="5029200" cy="30632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743200"/>
            <a:ext cx="4206240" cy="2560320"/>
          </a:xfrm>
          <a:prstGeom prst="rect">
            <a:avLst/>
          </a:prstGeom>
          <a:noFill/>
        </p:spPr>
        <p:txBody>
          <a:bodyPr wrap="square" lIns="0" rIns="0" tIns="0" bIns="0">
            <a:spAutoFit/>
          </a:bodyPr>
          <a:lstStyle/>
          <a:p>
            <a:pPr algn="l">
              <a:spcBef>
                <a:spcPts val="0"/>
              </a:spcBef>
              <a:spcAft>
                <a:spcPts val="1200"/>
              </a:spcAft>
            </a:pPr>
            <a:r>
              <a:rPr sz="1300" b="1">
                <a:solidFill>
                  <a:srgbClr val="2F6F4E"/>
                </a:solidFill>
                <a:latin typeface="Aptos"/>
              </a:rPr>
              <a:t>PRODUCCIÓN ALTUÉ · René</a:t>
            </a:r>
          </a:p>
          <a:p>
            <a:pPr algn="l">
              <a:spcBef>
                <a:spcPts val="0"/>
              </a:spcBef>
              <a:spcAft>
                <a:spcPts val="700"/>
              </a:spcAft>
            </a:pPr>
            <a:r>
              <a:rPr sz="1350" b="0">
                <a:solidFill>
                  <a:srgbClr val="47584D"/>
                </a:solidFill>
                <a:latin typeface="Aptos"/>
              </a:rPr>
              <a:t>·  Semilla hortícola híbrida bajo contrato</a:t>
            </a:r>
          </a:p>
          <a:p>
            <a:pPr algn="l">
              <a:spcBef>
                <a:spcPts val="0"/>
              </a:spcBef>
              <a:spcAft>
                <a:spcPts val="700"/>
              </a:spcAft>
            </a:pPr>
            <a:r>
              <a:rPr sz="1350" b="0">
                <a:solidFill>
                  <a:srgbClr val="47584D"/>
                </a:solidFill>
                <a:latin typeface="Aptos"/>
              </a:rPr>
              <a:t>·  Hoy: ya tienen el SIA</a:t>
            </a:r>
          </a:p>
          <a:p>
            <a:pPr algn="l">
              <a:spcBef>
                <a:spcPts val="0"/>
              </a:spcBef>
              <a:spcAft>
                <a:spcPts val="700"/>
              </a:spcAft>
            </a:pPr>
            <a:r>
              <a:rPr sz="1350" b="0">
                <a:solidFill>
                  <a:srgbClr val="47584D"/>
                </a:solidFill>
                <a:latin typeface="Aptos"/>
              </a:rPr>
              <a:t>·  Mide el tiempo en momento del cultivo</a:t>
            </a:r>
          </a:p>
          <a:p>
            <a:pPr algn="l">
              <a:spcBef>
                <a:spcPts val="0"/>
              </a:spcBef>
              <a:spcAft>
                <a:spcPts val="700"/>
              </a:spcAft>
            </a:pPr>
            <a:r>
              <a:rPr sz="1350" b="0">
                <a:solidFill>
                  <a:srgbClr val="47584D"/>
                </a:solidFill>
                <a:latin typeface="Aptos"/>
              </a:rPr>
              <a:t>·  Trasplante → Floración → Cosecha y trilla</a:t>
            </a:r>
          </a:p>
        </p:txBody>
      </p:sp>
      <p:sp>
        <p:nvSpPr>
          <p:cNvPr id="9" name="TextBox 8"/>
          <p:cNvSpPr txBox="1"/>
          <p:nvPr/>
        </p:nvSpPr>
        <p:spPr>
          <a:xfrm>
            <a:off x="822960" y="5806440"/>
            <a:ext cx="10515600" cy="640080"/>
          </a:xfrm>
          <a:prstGeom prst="rect">
            <a:avLst/>
          </a:prstGeom>
          <a:noFill/>
        </p:spPr>
        <p:txBody>
          <a:bodyPr wrap="square" lIns="0" rIns="0" tIns="0" bIns="0">
            <a:spAutoFit/>
          </a:bodyPr>
          <a:lstStyle/>
          <a:p>
            <a:pPr algn="l">
              <a:spcBef>
                <a:spcPts val="0"/>
              </a:spcBef>
              <a:spcAft>
                <a:spcPts val="0"/>
              </a:spcAft>
            </a:pPr>
            <a:r>
              <a:rPr sz="1500" b="1">
                <a:solidFill>
                  <a:srgbClr val="16211A"/>
                </a:solidFill>
                <a:latin typeface="Aptos"/>
              </a:rPr>
              <a:t>Distinto vocabulario, misma idea: una visita ocurre en un punto del ciclo, y ese punto decide qué se pregunta.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5</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EL HALLAZGO QUE ORDENA TODO</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Las dos planillas mezclan dos cosas
que no se comportan igual</a:t>
            </a:r>
          </a:p>
        </p:txBody>
      </p:sp>
      <p:sp>
        <p:nvSpPr>
          <p:cNvPr id="5" name="Rounded Rectangle 4"/>
          <p:cNvSpPr/>
          <p:nvPr/>
        </p:nvSpPr>
        <p:spPr>
          <a:xfrm>
            <a:off x="822960" y="2743200"/>
            <a:ext cx="5029200" cy="2743200"/>
          </a:xfrm>
          <a:prstGeom prst="roundRect">
            <a:avLst>
              <a:gd name="adj" fmla="val 6000"/>
            </a:avLst>
          </a:prstGeom>
          <a:solidFill>
            <a:srgbClr val="EAE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3017520"/>
            <a:ext cx="4206240" cy="2286000"/>
          </a:xfrm>
          <a:prstGeom prst="rect">
            <a:avLst/>
          </a:prstGeom>
          <a:noFill/>
        </p:spPr>
        <p:txBody>
          <a:bodyPr wrap="square" lIns="0" rIns="0" tIns="0" bIns="0">
            <a:spAutoFit/>
          </a:bodyPr>
          <a:lstStyle/>
          <a:p>
            <a:pPr algn="l">
              <a:spcBef>
                <a:spcPts val="0"/>
              </a:spcBef>
              <a:spcAft>
                <a:spcPts val="400"/>
              </a:spcAft>
            </a:pPr>
            <a:r>
              <a:rPr sz="2200" b="1">
                <a:solidFill>
                  <a:srgbClr val="47584D"/>
                </a:solidFill>
                <a:latin typeface="Aptos"/>
              </a:rPr>
              <a:t>HITOS</a:t>
            </a:r>
          </a:p>
          <a:p>
            <a:pPr algn="l">
              <a:spcBef>
                <a:spcPts val="0"/>
              </a:spcBef>
              <a:spcAft>
                <a:spcPts val="1000"/>
              </a:spcAft>
            </a:pPr>
            <a:r>
              <a:rPr sz="1300" b="1">
                <a:solidFill>
                  <a:srgbClr val="16211A"/>
                </a:solidFill>
                <a:latin typeface="Aptos"/>
              </a:rPr>
              <a:t>Se llenan UNA VEZ por temporada</a:t>
            </a:r>
          </a:p>
          <a:p>
            <a:pPr algn="l">
              <a:spcBef>
                <a:spcPts val="0"/>
              </a:spcBef>
              <a:spcAft>
                <a:spcPts val="1200"/>
              </a:spcAft>
            </a:pPr>
            <a:r>
              <a:rPr sz="1300" b="0">
                <a:solidFill>
                  <a:srgbClr val="47584D"/>
                </a:solidFill>
                <a:latin typeface="Aptos"/>
              </a:rPr>
              <a:t>Fecha de trasplante · población a 30 DDT · número de máquina de trilla</a:t>
            </a:r>
          </a:p>
          <a:p>
            <a:pPr algn="l">
              <a:spcBef>
                <a:spcPts val="0"/>
              </a:spcBef>
              <a:spcAft>
                <a:spcPts val="0"/>
              </a:spcAft>
            </a:pPr>
            <a:r>
              <a:rPr sz="1300" b="1">
                <a:solidFill>
                  <a:srgbClr val="47584D"/>
                </a:solidFill>
                <a:latin typeface="Aptos"/>
              </a:rPr>
              <a:t>En Altué esto ya vive en el SIA.
El audio no intenta capturarlo.</a:t>
            </a:r>
          </a:p>
        </p:txBody>
      </p:sp>
      <p:sp>
        <p:nvSpPr>
          <p:cNvPr id="7" name="Rounded Rectangle 6"/>
          <p:cNvSpPr/>
          <p:nvPr/>
        </p:nvSpPr>
        <p:spPr>
          <a:xfrm>
            <a:off x="6263640" y="2743200"/>
            <a:ext cx="5029200" cy="274320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3017520"/>
            <a:ext cx="4206240" cy="2286000"/>
          </a:xfrm>
          <a:prstGeom prst="rect">
            <a:avLst/>
          </a:prstGeom>
          <a:noFill/>
        </p:spPr>
        <p:txBody>
          <a:bodyPr wrap="square" lIns="0" rIns="0" tIns="0" bIns="0">
            <a:spAutoFit/>
          </a:bodyPr>
          <a:lstStyle/>
          <a:p>
            <a:pPr algn="l">
              <a:spcBef>
                <a:spcPts val="0"/>
              </a:spcBef>
              <a:spcAft>
                <a:spcPts val="400"/>
              </a:spcAft>
            </a:pPr>
            <a:r>
              <a:rPr sz="2200" b="1">
                <a:solidFill>
                  <a:srgbClr val="2F6F4E"/>
                </a:solidFill>
                <a:latin typeface="Aptos"/>
              </a:rPr>
              <a:t>VISITA</a:t>
            </a:r>
          </a:p>
          <a:p>
            <a:pPr algn="l">
              <a:spcBef>
                <a:spcPts val="0"/>
              </a:spcBef>
              <a:spcAft>
                <a:spcPts val="1000"/>
              </a:spcAft>
            </a:pPr>
            <a:r>
              <a:rPr sz="1300" b="1">
                <a:solidFill>
                  <a:srgbClr val="16211A"/>
                </a:solidFill>
                <a:latin typeface="Aptos"/>
              </a:rPr>
              <a:t>Se llena CADA VEZ que alguien pisa el campo</a:t>
            </a:r>
          </a:p>
          <a:p>
            <a:pPr algn="l">
              <a:spcBef>
                <a:spcPts val="0"/>
              </a:spcBef>
              <a:spcAft>
                <a:spcPts val="1200"/>
              </a:spcAft>
            </a:pPr>
            <a:r>
              <a:rPr sz="1300" b="0">
                <a:solidFill>
                  <a:srgbClr val="47584D"/>
                </a:solidFill>
                <a:latin typeface="Aptos"/>
              </a:rPr>
              <a:t>Riego · malezas · sanidad · nota agronómica · fotos</a:t>
            </a:r>
          </a:p>
          <a:p>
            <a:pPr algn="l">
              <a:spcBef>
                <a:spcPts val="0"/>
              </a:spcBef>
              <a:spcAft>
                <a:spcPts val="0"/>
              </a:spcAft>
            </a:pPr>
            <a:r>
              <a:rPr sz="1300" b="1">
                <a:solidFill>
                  <a:srgbClr val="2F6F4E"/>
                </a:solidFill>
                <a:latin typeface="Aptos"/>
              </a:rPr>
              <a:t>Esto es lo que dicta el audio.
Es el producto.</a:t>
            </a:r>
          </a:p>
        </p:txBody>
      </p:sp>
      <p:sp>
        <p:nvSpPr>
          <p:cNvPr id="9" name="TextBox 8"/>
          <p:cNvSpPr txBox="1"/>
          <p:nvPr/>
        </p:nvSpPr>
        <p:spPr>
          <a:xfrm>
            <a:off x="822960" y="5760720"/>
            <a:ext cx="10515600" cy="640080"/>
          </a:xfrm>
          <a:prstGeom prst="rect">
            <a:avLst/>
          </a:prstGeom>
          <a:noFill/>
        </p:spPr>
        <p:txBody>
          <a:bodyPr wrap="square" lIns="0" rIns="0" tIns="0" bIns="0">
            <a:spAutoFit/>
          </a:bodyPr>
          <a:lstStyle/>
          <a:p>
            <a:pPr algn="l">
              <a:spcBef>
                <a:spcPts val="0"/>
              </a:spcBef>
              <a:spcAft>
                <a:spcPts val="0"/>
              </a:spcAft>
            </a:pPr>
            <a:r>
              <a:rPr sz="1450" b="0">
                <a:solidFill>
                  <a:srgbClr val="47584D"/>
                </a:solidFill>
                <a:latin typeface="Aptos"/>
              </a:rPr>
              <a:t>René ya había hecho esta separación solo, al escribir su lista aparte al pie de la sábana.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6</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LA PROPUESTA</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Una sábana consolidada, en tres capas</a:t>
            </a:r>
          </a:p>
        </p:txBody>
      </p:sp>
      <p:sp>
        <p:nvSpPr>
          <p:cNvPr id="5" name="Rounded Rectangle 4"/>
          <p:cNvSpPr/>
          <p:nvPr/>
        </p:nvSpPr>
        <p:spPr>
          <a:xfrm>
            <a:off x="822960" y="2468880"/>
            <a:ext cx="10515600" cy="1078992"/>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640080" cy="822960"/>
          </a:xfrm>
          <a:prstGeom prst="rect">
            <a:avLst/>
          </a:prstGeom>
          <a:noFill/>
        </p:spPr>
        <p:txBody>
          <a:bodyPr wrap="square" lIns="0" rIns="0" tIns="0" bIns="0">
            <a:spAutoFit/>
          </a:bodyPr>
          <a:lstStyle/>
          <a:p>
            <a:pPr algn="l">
              <a:spcBef>
                <a:spcPts val="0"/>
              </a:spcBef>
              <a:spcAft>
                <a:spcPts val="0"/>
              </a:spcAft>
            </a:pPr>
            <a:r>
              <a:rPr sz="3000" b="1">
                <a:solidFill>
                  <a:srgbClr val="C4CFC6"/>
                </a:solidFill>
                <a:latin typeface="Aptos"/>
              </a:rPr>
              <a:t>1</a:t>
            </a:r>
          </a:p>
        </p:txBody>
      </p:sp>
      <p:sp>
        <p:nvSpPr>
          <p:cNvPr id="7" name="TextBox 6"/>
          <p:cNvSpPr txBox="1"/>
          <p:nvPr/>
        </p:nvSpPr>
        <p:spPr>
          <a:xfrm>
            <a:off x="1920240" y="2633472"/>
            <a:ext cx="5852160" cy="914400"/>
          </a:xfrm>
          <a:prstGeom prst="rect">
            <a:avLst/>
          </a:prstGeom>
          <a:noFill/>
        </p:spPr>
        <p:txBody>
          <a:bodyPr wrap="square" lIns="0" rIns="0" tIns="0" bIns="0">
            <a:spAutoFit/>
          </a:bodyPr>
          <a:lstStyle/>
          <a:p>
            <a:pPr algn="l">
              <a:spcBef>
                <a:spcPts val="0"/>
              </a:spcBef>
              <a:spcAft>
                <a:spcPts val="500"/>
              </a:spcAft>
            </a:pPr>
            <a:r>
              <a:rPr sz="1600" b="1">
                <a:solidFill>
                  <a:srgbClr val="16211A"/>
                </a:solidFill>
                <a:latin typeface="Aptos"/>
              </a:rPr>
              <a:t>AGRICULTOR Y LOTE</a:t>
            </a:r>
          </a:p>
          <a:p>
            <a:pPr algn="l">
              <a:spcBef>
                <a:spcPts val="0"/>
              </a:spcBef>
              <a:spcAft>
                <a:spcPts val="0"/>
              </a:spcAft>
            </a:pPr>
            <a:r>
              <a:rPr sz="1250" b="0">
                <a:solidFill>
                  <a:srgbClr val="47584D"/>
                </a:solidFill>
                <a:latin typeface="Aptos"/>
              </a:rPr>
              <a:t>Agricultor · lote · cultivo · variedad · superficie · objetivo</a:t>
            </a:r>
          </a:p>
        </p:txBody>
      </p:sp>
      <p:sp>
        <p:nvSpPr>
          <p:cNvPr id="8" name="TextBox 7"/>
          <p:cNvSpPr txBox="1"/>
          <p:nvPr/>
        </p:nvSpPr>
        <p:spPr>
          <a:xfrm>
            <a:off x="7955279" y="2688336"/>
            <a:ext cx="3108960" cy="822960"/>
          </a:xfrm>
          <a:prstGeom prst="rect">
            <a:avLst/>
          </a:prstGeom>
          <a:noFill/>
        </p:spPr>
        <p:txBody>
          <a:bodyPr wrap="square" lIns="0" rIns="0" tIns="0" bIns="0">
            <a:spAutoFit/>
          </a:bodyPr>
          <a:lstStyle/>
          <a:p>
            <a:pPr algn="l">
              <a:spcBef>
                <a:spcPts val="0"/>
              </a:spcBef>
              <a:spcAft>
                <a:spcPts val="400"/>
              </a:spcAft>
            </a:pPr>
            <a:r>
              <a:rPr sz="1250" b="1">
                <a:solidFill>
                  <a:srgbClr val="16211A"/>
                </a:solidFill>
                <a:latin typeface="Aptos"/>
              </a:rPr>
              <a:t>Precargada desde Comercial / el SIA</a:t>
            </a:r>
          </a:p>
          <a:p>
            <a:pPr algn="l">
              <a:spcBef>
                <a:spcPts val="0"/>
              </a:spcBef>
              <a:spcAft>
                <a:spcPts val="0"/>
              </a:spcAft>
            </a:pPr>
            <a:r>
              <a:rPr sz="1200" b="0">
                <a:solidFill>
                  <a:srgbClr val="7D8C82"/>
                </a:solidFill>
                <a:latin typeface="Aptos"/>
              </a:rPr>
              <a:t>Una vez</a:t>
            </a:r>
          </a:p>
        </p:txBody>
      </p:sp>
      <p:sp>
        <p:nvSpPr>
          <p:cNvPr id="9" name="Rounded Rectangle 8"/>
          <p:cNvSpPr/>
          <p:nvPr/>
        </p:nvSpPr>
        <p:spPr>
          <a:xfrm>
            <a:off x="822960" y="3657600"/>
            <a:ext cx="10515600" cy="1078992"/>
          </a:xfrm>
          <a:prstGeom prst="roundRect">
            <a:avLst>
              <a:gd name="adj" fmla="val 6000"/>
            </a:avLst>
          </a:prstGeom>
          <a:solidFill>
            <a:srgbClr val="E8F1EB"/>
          </a:solidFill>
          <a:ln w="12700">
            <a:solidFill>
              <a:srgbClr val="2F6F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840480"/>
            <a:ext cx="640080" cy="822960"/>
          </a:xfrm>
          <a:prstGeom prst="rect">
            <a:avLst/>
          </a:prstGeom>
          <a:noFill/>
        </p:spPr>
        <p:txBody>
          <a:bodyPr wrap="square" lIns="0" rIns="0" tIns="0" bIns="0">
            <a:spAutoFit/>
          </a:bodyPr>
          <a:lstStyle/>
          <a:p>
            <a:pPr algn="l">
              <a:spcBef>
                <a:spcPts val="0"/>
              </a:spcBef>
              <a:spcAft>
                <a:spcPts val="0"/>
              </a:spcAft>
            </a:pPr>
            <a:r>
              <a:rPr sz="3000" b="1">
                <a:solidFill>
                  <a:srgbClr val="2F6F4E"/>
                </a:solidFill>
                <a:latin typeface="Aptos"/>
              </a:rPr>
              <a:t>2</a:t>
            </a:r>
          </a:p>
        </p:txBody>
      </p:sp>
      <p:sp>
        <p:nvSpPr>
          <p:cNvPr id="11" name="TextBox 10"/>
          <p:cNvSpPr txBox="1"/>
          <p:nvPr/>
        </p:nvSpPr>
        <p:spPr>
          <a:xfrm>
            <a:off x="1920240" y="3822191"/>
            <a:ext cx="5852160" cy="914400"/>
          </a:xfrm>
          <a:prstGeom prst="rect">
            <a:avLst/>
          </a:prstGeom>
          <a:noFill/>
        </p:spPr>
        <p:txBody>
          <a:bodyPr wrap="square" lIns="0" rIns="0" tIns="0" bIns="0">
            <a:spAutoFit/>
          </a:bodyPr>
          <a:lstStyle/>
          <a:p>
            <a:pPr algn="l">
              <a:spcBef>
                <a:spcPts val="0"/>
              </a:spcBef>
              <a:spcAft>
                <a:spcPts val="500"/>
              </a:spcAft>
            </a:pPr>
            <a:r>
              <a:rPr sz="1600" b="1">
                <a:solidFill>
                  <a:srgbClr val="2F6F4E"/>
                </a:solidFill>
                <a:latin typeface="Aptos"/>
              </a:rPr>
              <a:t>LA VISITA</a:t>
            </a:r>
          </a:p>
          <a:p>
            <a:pPr algn="l">
              <a:spcBef>
                <a:spcPts val="0"/>
              </a:spcBef>
              <a:spcAft>
                <a:spcPts val="0"/>
              </a:spcAft>
            </a:pPr>
            <a:r>
              <a:rPr sz="1250" b="0">
                <a:solidFill>
                  <a:srgbClr val="47584D"/>
                </a:solidFill>
                <a:latin typeface="Aptos"/>
              </a:rPr>
              <a:t>Riego · malezas · sanidad · nota agronómica % · fotos · próximas acciones</a:t>
            </a:r>
          </a:p>
        </p:txBody>
      </p:sp>
      <p:sp>
        <p:nvSpPr>
          <p:cNvPr id="12" name="TextBox 11"/>
          <p:cNvSpPr txBox="1"/>
          <p:nvPr/>
        </p:nvSpPr>
        <p:spPr>
          <a:xfrm>
            <a:off x="7955279" y="3877056"/>
            <a:ext cx="3108960" cy="822960"/>
          </a:xfrm>
          <a:prstGeom prst="rect">
            <a:avLst/>
          </a:prstGeom>
          <a:noFill/>
        </p:spPr>
        <p:txBody>
          <a:bodyPr wrap="square" lIns="0" rIns="0" tIns="0" bIns="0">
            <a:spAutoFit/>
          </a:bodyPr>
          <a:lstStyle/>
          <a:p>
            <a:pPr algn="l">
              <a:spcBef>
                <a:spcPts val="0"/>
              </a:spcBef>
              <a:spcAft>
                <a:spcPts val="400"/>
              </a:spcAft>
            </a:pPr>
            <a:r>
              <a:rPr sz="1250" b="1">
                <a:solidFill>
                  <a:srgbClr val="16211A"/>
                </a:solidFill>
                <a:latin typeface="Aptos"/>
              </a:rPr>
              <a:t>La dicta el audio de WhatsApp</a:t>
            </a:r>
          </a:p>
          <a:p>
            <a:pPr algn="l">
              <a:spcBef>
                <a:spcPts val="0"/>
              </a:spcBef>
              <a:spcAft>
                <a:spcPts val="0"/>
              </a:spcAft>
            </a:pPr>
            <a:r>
              <a:rPr sz="1200" b="0">
                <a:solidFill>
                  <a:srgbClr val="7D8C82"/>
                </a:solidFill>
                <a:latin typeface="Aptos"/>
              </a:rPr>
              <a:t>Cada vez</a:t>
            </a:r>
          </a:p>
        </p:txBody>
      </p:sp>
      <p:sp>
        <p:nvSpPr>
          <p:cNvPr id="13" name="Rounded Rectangle 12"/>
          <p:cNvSpPr/>
          <p:nvPr/>
        </p:nvSpPr>
        <p:spPr>
          <a:xfrm>
            <a:off x="822960" y="4846320"/>
            <a:ext cx="10515600" cy="1078992"/>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5029200"/>
            <a:ext cx="640080" cy="822960"/>
          </a:xfrm>
          <a:prstGeom prst="rect">
            <a:avLst/>
          </a:prstGeom>
          <a:noFill/>
        </p:spPr>
        <p:txBody>
          <a:bodyPr wrap="square" lIns="0" rIns="0" tIns="0" bIns="0">
            <a:spAutoFit/>
          </a:bodyPr>
          <a:lstStyle/>
          <a:p>
            <a:pPr algn="l">
              <a:spcBef>
                <a:spcPts val="0"/>
              </a:spcBef>
              <a:spcAft>
                <a:spcPts val="0"/>
              </a:spcAft>
            </a:pPr>
            <a:r>
              <a:rPr sz="3000" b="1">
                <a:solidFill>
                  <a:srgbClr val="C4CFC6"/>
                </a:solidFill>
                <a:latin typeface="Aptos"/>
              </a:rPr>
              <a:t>3</a:t>
            </a:r>
          </a:p>
        </p:txBody>
      </p:sp>
      <p:sp>
        <p:nvSpPr>
          <p:cNvPr id="15" name="TextBox 14"/>
          <p:cNvSpPr txBox="1"/>
          <p:nvPr/>
        </p:nvSpPr>
        <p:spPr>
          <a:xfrm>
            <a:off x="1920240" y="5010912"/>
            <a:ext cx="5852160" cy="914400"/>
          </a:xfrm>
          <a:prstGeom prst="rect">
            <a:avLst/>
          </a:prstGeom>
          <a:noFill/>
        </p:spPr>
        <p:txBody>
          <a:bodyPr wrap="square" lIns="0" rIns="0" tIns="0" bIns="0">
            <a:spAutoFit/>
          </a:bodyPr>
          <a:lstStyle/>
          <a:p>
            <a:pPr algn="l">
              <a:spcBef>
                <a:spcPts val="0"/>
              </a:spcBef>
              <a:spcAft>
                <a:spcPts val="500"/>
              </a:spcAft>
            </a:pPr>
            <a:r>
              <a:rPr sz="1600" b="1">
                <a:solidFill>
                  <a:srgbClr val="16211A"/>
                </a:solidFill>
                <a:latin typeface="Aptos"/>
              </a:rPr>
              <a:t>HITOS DEL CICLO</a:t>
            </a:r>
          </a:p>
          <a:p>
            <a:pPr algn="l">
              <a:spcBef>
                <a:spcPts val="0"/>
              </a:spcBef>
              <a:spcAft>
                <a:spcPts val="0"/>
              </a:spcAft>
            </a:pPr>
            <a:r>
              <a:rPr sz="1250" b="0">
                <a:solidFill>
                  <a:srgbClr val="47584D"/>
                </a:solidFill>
                <a:latin typeface="Aptos"/>
              </a:rPr>
              <a:t>Trasplante, floración, cosecha (Altué) · las 9 etapas fenológicas (MN)</a:t>
            </a:r>
          </a:p>
        </p:txBody>
      </p:sp>
      <p:sp>
        <p:nvSpPr>
          <p:cNvPr id="16" name="TextBox 15"/>
          <p:cNvSpPr txBox="1"/>
          <p:nvPr/>
        </p:nvSpPr>
        <p:spPr>
          <a:xfrm>
            <a:off x="7955279" y="5065776"/>
            <a:ext cx="3108960" cy="822960"/>
          </a:xfrm>
          <a:prstGeom prst="rect">
            <a:avLst/>
          </a:prstGeom>
          <a:noFill/>
        </p:spPr>
        <p:txBody>
          <a:bodyPr wrap="square" lIns="0" rIns="0" tIns="0" bIns="0">
            <a:spAutoFit/>
          </a:bodyPr>
          <a:lstStyle/>
          <a:p>
            <a:pPr algn="l">
              <a:spcBef>
                <a:spcPts val="0"/>
              </a:spcBef>
              <a:spcAft>
                <a:spcPts val="400"/>
              </a:spcAft>
            </a:pPr>
            <a:r>
              <a:rPr sz="1250" b="1">
                <a:solidFill>
                  <a:srgbClr val="16211A"/>
                </a:solidFill>
                <a:latin typeface="Aptos"/>
              </a:rPr>
              <a:t>El zonal, cuando toca</a:t>
            </a:r>
          </a:p>
          <a:p>
            <a:pPr algn="l">
              <a:spcBef>
                <a:spcPts val="0"/>
              </a:spcBef>
              <a:spcAft>
                <a:spcPts val="0"/>
              </a:spcAft>
            </a:pPr>
            <a:r>
              <a:rPr sz="1200" b="0">
                <a:solidFill>
                  <a:srgbClr val="7D8C82"/>
                </a:solidFill>
                <a:latin typeface="Aptos"/>
              </a:rPr>
              <a:t>Una vez por etapa</a:t>
            </a:r>
          </a:p>
        </p:txBody>
      </p:sp>
      <p:sp>
        <p:nvSpPr>
          <p:cNvPr id="17" name="TextBox 16"/>
          <p:cNvSpPr txBox="1"/>
          <p:nvPr/>
        </p:nvSpPr>
        <p:spPr>
          <a:xfrm>
            <a:off x="822960" y="6172200"/>
            <a:ext cx="10515600" cy="365760"/>
          </a:xfrm>
          <a:prstGeom prst="rect">
            <a:avLst/>
          </a:prstGeom>
          <a:noFill/>
        </p:spPr>
        <p:txBody>
          <a:bodyPr wrap="square" lIns="0" rIns="0" tIns="0" bIns="0">
            <a:spAutoFit/>
          </a:bodyPr>
          <a:lstStyle/>
          <a:p>
            <a:pPr algn="l">
              <a:spcBef>
                <a:spcPts val="0"/>
              </a:spcBef>
              <a:spcAft>
                <a:spcPts val="0"/>
              </a:spcAft>
            </a:pPr>
            <a:r>
              <a:rPr sz="1300" b="0">
                <a:solidFill>
                  <a:srgbClr val="47584D"/>
                </a:solidFill>
                <a:latin typeface="Aptos"/>
              </a:rPr>
              <a:t>Mismo nombre para lo común; cada área suma los suyos — que es lo que se acordó en la reunión.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7</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EL FLUJO</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000" b="1">
                <a:solidFill>
                  <a:srgbClr val="16211A"/>
                </a:solidFill>
                <a:latin typeface="Aptos"/>
              </a:rPr>
              <a:t>De la camioneta al historial, en seis pasos</a:t>
            </a:r>
          </a:p>
        </p:txBody>
      </p:sp>
      <p:sp>
        <p:nvSpPr>
          <p:cNvPr id="5" name="Rounded Rectangle 4"/>
          <p:cNvSpPr/>
          <p:nvPr/>
        </p:nvSpPr>
        <p:spPr>
          <a:xfrm>
            <a:off x="822960" y="2331720"/>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532888"/>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1</a:t>
            </a:r>
          </a:p>
          <a:p>
            <a:pPr algn="l">
              <a:spcBef>
                <a:spcPts val="0"/>
              </a:spcBef>
              <a:spcAft>
                <a:spcPts val="600"/>
              </a:spcAft>
            </a:pPr>
            <a:r>
              <a:rPr sz="1500" b="1">
                <a:solidFill>
                  <a:srgbClr val="16211A"/>
                </a:solidFill>
                <a:latin typeface="Aptos"/>
              </a:rPr>
              <a:t>Manda el audio</a:t>
            </a:r>
          </a:p>
          <a:p>
            <a:pPr algn="l">
              <a:spcBef>
                <a:spcPts val="0"/>
              </a:spcBef>
              <a:spcAft>
                <a:spcPts val="0"/>
              </a:spcAft>
            </a:pPr>
            <a:r>
              <a:rPr sz="1200" b="0">
                <a:solidFill>
                  <a:srgbClr val="47584D"/>
                </a:solidFill>
                <a:latin typeface="Aptos"/>
              </a:rPr>
              <a:t>El zonal, apenas termina de recorrer. Fotos si tiene.</a:t>
            </a:r>
          </a:p>
        </p:txBody>
      </p:sp>
      <p:sp>
        <p:nvSpPr>
          <p:cNvPr id="7" name="Rounded Rectangle 6"/>
          <p:cNvSpPr/>
          <p:nvPr/>
        </p:nvSpPr>
        <p:spPr>
          <a:xfrm>
            <a:off x="4361688" y="2331720"/>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1728" y="2532888"/>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2</a:t>
            </a:r>
          </a:p>
          <a:p>
            <a:pPr algn="l">
              <a:spcBef>
                <a:spcPts val="0"/>
              </a:spcBef>
              <a:spcAft>
                <a:spcPts val="600"/>
              </a:spcAft>
            </a:pPr>
            <a:r>
              <a:rPr sz="1500" b="1">
                <a:solidFill>
                  <a:srgbClr val="16211A"/>
                </a:solidFill>
                <a:latin typeface="Aptos"/>
              </a:rPr>
              <a:t>El sistema lo reconoce</a:t>
            </a:r>
          </a:p>
          <a:p>
            <a:pPr algn="l">
              <a:spcBef>
                <a:spcPts val="0"/>
              </a:spcBef>
              <a:spcAft>
                <a:spcPts val="0"/>
              </a:spcAft>
            </a:pPr>
            <a:r>
              <a:rPr sz="1200" b="0">
                <a:solidFill>
                  <a:srgbClr val="47584D"/>
                </a:solidFill>
                <a:latin typeface="Aptos"/>
              </a:rPr>
              <a:t>Por su número. Sabe quién es, de qué área y qué preguntas aplican.</a:t>
            </a:r>
          </a:p>
        </p:txBody>
      </p:sp>
      <p:sp>
        <p:nvSpPr>
          <p:cNvPr id="9" name="Rounded Rectangle 8"/>
          <p:cNvSpPr/>
          <p:nvPr/>
        </p:nvSpPr>
        <p:spPr>
          <a:xfrm>
            <a:off x="7900416" y="2331720"/>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0456" y="2532888"/>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3</a:t>
            </a:r>
          </a:p>
          <a:p>
            <a:pPr algn="l">
              <a:spcBef>
                <a:spcPts val="0"/>
              </a:spcBef>
              <a:spcAft>
                <a:spcPts val="600"/>
              </a:spcAft>
            </a:pPr>
            <a:r>
              <a:rPr sz="1500" b="1">
                <a:solidFill>
                  <a:srgbClr val="16211A"/>
                </a:solidFill>
                <a:latin typeface="Aptos"/>
              </a:rPr>
              <a:t>Transcribe y estructura</a:t>
            </a:r>
          </a:p>
          <a:p>
            <a:pPr algn="l">
              <a:spcBef>
                <a:spcPts val="0"/>
              </a:spcBef>
              <a:spcAft>
                <a:spcPts val="0"/>
              </a:spcAft>
            </a:pPr>
            <a:r>
              <a:rPr sz="1200" b="0">
                <a:solidFill>
                  <a:srgbClr val="47584D"/>
                </a:solidFill>
                <a:latin typeface="Aptos"/>
              </a:rPr>
              <a:t>Contra la plantilla de su área. Elige el lote de SU lista, o dice que no supo.</a:t>
            </a:r>
          </a:p>
        </p:txBody>
      </p:sp>
      <p:sp>
        <p:nvSpPr>
          <p:cNvPr id="11" name="Rounded Rectangle 10"/>
          <p:cNvSpPr/>
          <p:nvPr/>
        </p:nvSpPr>
        <p:spPr>
          <a:xfrm>
            <a:off x="822960" y="4297679"/>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498847"/>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4</a:t>
            </a:r>
          </a:p>
          <a:p>
            <a:pPr algn="l">
              <a:spcBef>
                <a:spcPts val="0"/>
              </a:spcBef>
              <a:spcAft>
                <a:spcPts val="600"/>
              </a:spcAft>
            </a:pPr>
            <a:r>
              <a:rPr sz="1500" b="1">
                <a:solidFill>
                  <a:srgbClr val="16211A"/>
                </a:solidFill>
                <a:latin typeface="Aptos"/>
              </a:rPr>
              <a:t>Devuelve el borrador</a:t>
            </a:r>
          </a:p>
          <a:p>
            <a:pPr algn="l">
              <a:spcBef>
                <a:spcPts val="0"/>
              </a:spcBef>
              <a:spcAft>
                <a:spcPts val="0"/>
              </a:spcAft>
            </a:pPr>
            <a:r>
              <a:rPr sz="1200" b="0">
                <a:solidFill>
                  <a:srgbClr val="47584D"/>
                </a:solidFill>
                <a:latin typeface="Aptos"/>
              </a:rPr>
              <a:t>Por el mismo WhatsApp. Todo lo que entendió, a la vista.</a:t>
            </a:r>
          </a:p>
        </p:txBody>
      </p:sp>
      <p:sp>
        <p:nvSpPr>
          <p:cNvPr id="13" name="Rounded Rectangle 12"/>
          <p:cNvSpPr/>
          <p:nvPr/>
        </p:nvSpPr>
        <p:spPr>
          <a:xfrm>
            <a:off x="4361688" y="4297679"/>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4498847"/>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5</a:t>
            </a:r>
          </a:p>
          <a:p>
            <a:pPr algn="l">
              <a:spcBef>
                <a:spcPts val="0"/>
              </a:spcBef>
              <a:spcAft>
                <a:spcPts val="600"/>
              </a:spcAft>
            </a:pPr>
            <a:r>
              <a:rPr sz="1500" b="1">
                <a:solidFill>
                  <a:srgbClr val="16211A"/>
                </a:solidFill>
                <a:latin typeface="Aptos"/>
              </a:rPr>
              <a:t>El zonal responde OK</a:t>
            </a:r>
          </a:p>
          <a:p>
            <a:pPr algn="l">
              <a:spcBef>
                <a:spcPts val="0"/>
              </a:spcBef>
              <a:spcAft>
                <a:spcPts val="0"/>
              </a:spcAft>
            </a:pPr>
            <a:r>
              <a:rPr sz="1200" b="0">
                <a:solidFill>
                  <a:srgbClr val="47584D"/>
                </a:solidFill>
                <a:latin typeface="Aptos"/>
              </a:rPr>
              <a:t>Recién ahí entra al historial. Si algo está mal, lo corrige en el sistema.</a:t>
            </a:r>
          </a:p>
        </p:txBody>
      </p:sp>
      <p:sp>
        <p:nvSpPr>
          <p:cNvPr id="15" name="Rounded Rectangle 14"/>
          <p:cNvSpPr/>
          <p:nvPr/>
        </p:nvSpPr>
        <p:spPr>
          <a:xfrm>
            <a:off x="7900416" y="4297679"/>
            <a:ext cx="3291840" cy="169164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4498847"/>
            <a:ext cx="2697480" cy="1371600"/>
          </a:xfrm>
          <a:prstGeom prst="rect">
            <a:avLst/>
          </a:prstGeom>
          <a:noFill/>
        </p:spPr>
        <p:txBody>
          <a:bodyPr wrap="square" lIns="0" rIns="0" tIns="0" bIns="0">
            <a:spAutoFit/>
          </a:bodyPr>
          <a:lstStyle/>
          <a:p>
            <a:pPr algn="l">
              <a:spcBef>
                <a:spcPts val="0"/>
              </a:spcBef>
              <a:spcAft>
                <a:spcPts val="400"/>
              </a:spcAft>
            </a:pPr>
            <a:r>
              <a:rPr sz="1500" b="1">
                <a:solidFill>
                  <a:srgbClr val="2F6F4E"/>
                </a:solidFill>
                <a:latin typeface="Aptos"/>
              </a:rPr>
              <a:t>6</a:t>
            </a:r>
          </a:p>
          <a:p>
            <a:pPr algn="l">
              <a:spcBef>
                <a:spcPts val="0"/>
              </a:spcBef>
              <a:spcAft>
                <a:spcPts val="600"/>
              </a:spcAft>
            </a:pPr>
            <a:r>
              <a:rPr sz="1500" b="1">
                <a:solidFill>
                  <a:srgbClr val="16211A"/>
                </a:solidFill>
                <a:latin typeface="Aptos"/>
              </a:rPr>
              <a:t>Queda la trazabilidad</a:t>
            </a:r>
          </a:p>
          <a:p>
            <a:pPr algn="l">
              <a:spcBef>
                <a:spcPts val="0"/>
              </a:spcBef>
              <a:spcAft>
                <a:spcPts val="0"/>
              </a:spcAft>
            </a:pPr>
            <a:r>
              <a:rPr sz="1200" b="0">
                <a:solidFill>
                  <a:srgbClr val="47584D"/>
                </a:solidFill>
                <a:latin typeface="Aptos"/>
              </a:rPr>
              <a:t>Por agricultor y por lote: fecha, quién, qué dijo, las fotos y la nota.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E24"/>
        </a:solidFill>
        <a:effectLst/>
      </p:bgPr>
    </p:bg>
    <p:spTree>
      <p:nvGrpSpPr>
        <p:cNvPr id="1" name=""/>
        <p:cNvGrpSpPr/>
        <p:nvPr/>
      </p:nvGrpSpPr>
      <p:grpSpPr/>
      <p:sp>
        <p:nvSpPr>
          <p:cNvPr id="2" name="TextBox 1"/>
          <p:cNvSpPr txBox="1"/>
          <p:nvPr/>
        </p:nvSpPr>
        <p:spPr>
          <a:xfrm>
            <a:off x="1188720" y="2286000"/>
            <a:ext cx="9784080" cy="2560320"/>
          </a:xfrm>
          <a:prstGeom prst="rect">
            <a:avLst/>
          </a:prstGeom>
          <a:noFill/>
        </p:spPr>
        <p:txBody>
          <a:bodyPr wrap="square" lIns="0" rIns="0" tIns="0" bIns="0">
            <a:spAutoFit/>
          </a:bodyPr>
          <a:lstStyle/>
          <a:p>
            <a:pPr algn="l">
              <a:spcBef>
                <a:spcPts val="0"/>
              </a:spcBef>
              <a:spcAft>
                <a:spcPts val="2200"/>
              </a:spcAft>
            </a:pPr>
            <a:r>
              <a:rPr sz="1300" b="1">
                <a:solidFill>
                  <a:srgbClr val="8AA393"/>
                </a:solidFill>
                <a:latin typeface="Aptos"/>
              </a:rPr>
              <a:t>LA REGLA QUE HACE QUE ESTO SEA CONFIABLE</a:t>
            </a:r>
          </a:p>
          <a:p>
            <a:pPr algn="l">
              <a:spcBef>
                <a:spcPts val="0"/>
              </a:spcBef>
              <a:spcAft>
                <a:spcPts val="2000"/>
              </a:spcAft>
            </a:pPr>
            <a:r>
              <a:rPr sz="3800" b="1">
                <a:solidFill>
                  <a:srgbClr val="FFFFFF"/>
                </a:solidFill>
                <a:latin typeface="Aptos"/>
              </a:rPr>
              <a:t>La IA propone. La persona confirma.</a:t>
            </a:r>
          </a:p>
          <a:p>
            <a:pPr algn="l">
              <a:spcBef>
                <a:spcPts val="0"/>
              </a:spcBef>
              <a:spcAft>
                <a:spcPts val="0"/>
              </a:spcAft>
            </a:pPr>
            <a:r>
              <a:rPr sz="1600" b="0">
                <a:solidFill>
                  <a:srgbClr val="B9C8BF"/>
                </a:solidFill>
                <a:latin typeface="Aptos"/>
              </a:rPr>
              <a:t>Nada entra al historial de un agricultor sin que quien estuvo en el campo lo mire.
Un sistema que guarda lo que la IA entendió sin que nadie confirme produce basura estructurada —
y eso es peor que un audio: al audio se le nota que hay que escucharlo.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9</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QUIÉN VE QUÉ</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Tres roles, definidos por lo que dejan hacer</a:t>
            </a:r>
          </a:p>
        </p:txBody>
      </p:sp>
      <p:sp>
        <p:nvSpPr>
          <p:cNvPr id="5" name="TextBox 4"/>
          <p:cNvSpPr txBox="1"/>
          <p:nvPr/>
        </p:nvSpPr>
        <p:spPr>
          <a:xfrm>
            <a:off x="1051560" y="2560320"/>
            <a:ext cx="2286000" cy="640080"/>
          </a:xfrm>
          <a:prstGeom prst="rect">
            <a:avLst/>
          </a:prstGeom>
          <a:noFill/>
        </p:spPr>
        <p:txBody>
          <a:bodyPr wrap="square" lIns="0" rIns="0" tIns="0" bIns="0">
            <a:spAutoFit/>
          </a:bodyPr>
          <a:lstStyle/>
          <a:p>
            <a:pPr algn="l">
              <a:spcBef>
                <a:spcPts val="0"/>
              </a:spcBef>
              <a:spcAft>
                <a:spcPts val="0"/>
              </a:spcAft>
            </a:pPr>
            <a:r>
              <a:rPr sz="1200" b="1">
                <a:solidFill>
                  <a:srgbClr val="2F6F4E"/>
                </a:solidFill>
                <a:latin typeface="Aptos"/>
              </a:rPr>
              <a:t>Rol</a:t>
            </a:r>
          </a:p>
        </p:txBody>
      </p:sp>
      <p:sp>
        <p:nvSpPr>
          <p:cNvPr id="6" name="TextBox 5"/>
          <p:cNvSpPr txBox="1"/>
          <p:nvPr/>
        </p:nvSpPr>
        <p:spPr>
          <a:xfrm>
            <a:off x="3703320" y="2560320"/>
            <a:ext cx="4389120" cy="640080"/>
          </a:xfrm>
          <a:prstGeom prst="rect">
            <a:avLst/>
          </a:prstGeom>
          <a:noFill/>
        </p:spPr>
        <p:txBody>
          <a:bodyPr wrap="square" lIns="0" rIns="0" tIns="0" bIns="0">
            <a:spAutoFit/>
          </a:bodyPr>
          <a:lstStyle/>
          <a:p>
            <a:pPr algn="l">
              <a:spcBef>
                <a:spcPts val="0"/>
              </a:spcBef>
              <a:spcAft>
                <a:spcPts val="0"/>
              </a:spcAft>
            </a:pPr>
            <a:r>
              <a:rPr sz="1200" b="1">
                <a:solidFill>
                  <a:srgbClr val="2F6F4E"/>
                </a:solidFill>
                <a:latin typeface="Aptos"/>
              </a:rPr>
              <a:t>Ve</a:t>
            </a:r>
          </a:p>
        </p:txBody>
      </p:sp>
      <p:sp>
        <p:nvSpPr>
          <p:cNvPr id="7" name="TextBox 6"/>
          <p:cNvSpPr txBox="1"/>
          <p:nvPr/>
        </p:nvSpPr>
        <p:spPr>
          <a:xfrm>
            <a:off x="8458200" y="2560320"/>
            <a:ext cx="1371600" cy="640080"/>
          </a:xfrm>
          <a:prstGeom prst="rect">
            <a:avLst/>
          </a:prstGeom>
          <a:noFill/>
        </p:spPr>
        <p:txBody>
          <a:bodyPr wrap="square" lIns="0" rIns="0" tIns="0" bIns="0">
            <a:spAutoFit/>
          </a:bodyPr>
          <a:lstStyle/>
          <a:p>
            <a:pPr algn="l">
              <a:spcBef>
                <a:spcPts val="0"/>
              </a:spcBef>
              <a:spcAft>
                <a:spcPts val="0"/>
              </a:spcAft>
            </a:pPr>
            <a:r>
              <a:rPr sz="1200" b="1">
                <a:solidFill>
                  <a:srgbClr val="2F6F4E"/>
                </a:solidFill>
                <a:latin typeface="Aptos"/>
              </a:rPr>
              <a:t>Envía el informe
al agricultor</a:t>
            </a:r>
          </a:p>
        </p:txBody>
      </p:sp>
      <p:sp>
        <p:nvSpPr>
          <p:cNvPr id="8" name="TextBox 7"/>
          <p:cNvSpPr txBox="1"/>
          <p:nvPr/>
        </p:nvSpPr>
        <p:spPr>
          <a:xfrm>
            <a:off x="10195560" y="2560320"/>
            <a:ext cx="1005840" cy="640080"/>
          </a:xfrm>
          <a:prstGeom prst="rect">
            <a:avLst/>
          </a:prstGeom>
          <a:noFill/>
        </p:spPr>
        <p:txBody>
          <a:bodyPr wrap="square" lIns="0" rIns="0" tIns="0" bIns="0">
            <a:spAutoFit/>
          </a:bodyPr>
          <a:lstStyle/>
          <a:p>
            <a:pPr algn="l">
              <a:spcBef>
                <a:spcPts val="0"/>
              </a:spcBef>
              <a:spcAft>
                <a:spcPts val="0"/>
              </a:spcAft>
            </a:pPr>
            <a:r>
              <a:rPr sz="1200" b="1">
                <a:solidFill>
                  <a:srgbClr val="2F6F4E"/>
                </a:solidFill>
                <a:latin typeface="Aptos"/>
              </a:rPr>
              <a:t>Administra
cuentas</a:t>
            </a:r>
          </a:p>
        </p:txBody>
      </p:sp>
      <p:sp>
        <p:nvSpPr>
          <p:cNvPr id="9" name="Rounded Rectangle 8"/>
          <p:cNvSpPr/>
          <p:nvPr/>
        </p:nvSpPr>
        <p:spPr>
          <a:xfrm>
            <a:off x="822960" y="3182112"/>
            <a:ext cx="10515600" cy="73152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01568"/>
            <a:ext cx="2286000" cy="548640"/>
          </a:xfrm>
          <a:prstGeom prst="rect">
            <a:avLst/>
          </a:prstGeom>
          <a:noFill/>
        </p:spPr>
        <p:txBody>
          <a:bodyPr wrap="square" lIns="0" rIns="0" tIns="0" bIns="0">
            <a:spAutoFit/>
          </a:bodyPr>
          <a:lstStyle/>
          <a:p>
            <a:pPr algn="l">
              <a:spcBef>
                <a:spcPts val="0"/>
              </a:spcBef>
              <a:spcAft>
                <a:spcPts val="0"/>
              </a:spcAft>
            </a:pPr>
            <a:r>
              <a:rPr sz="1350" b="1">
                <a:solidFill>
                  <a:srgbClr val="16211A"/>
                </a:solidFill>
                <a:latin typeface="Aptos"/>
              </a:rPr>
              <a:t>Zonal</a:t>
            </a:r>
          </a:p>
        </p:txBody>
      </p:sp>
      <p:sp>
        <p:nvSpPr>
          <p:cNvPr id="11" name="TextBox 10"/>
          <p:cNvSpPr txBox="1"/>
          <p:nvPr/>
        </p:nvSpPr>
        <p:spPr>
          <a:xfrm>
            <a:off x="3703320" y="3401568"/>
            <a:ext cx="438912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Solo sus propios agricultores, dentro de su área</a:t>
            </a:r>
          </a:p>
        </p:txBody>
      </p:sp>
      <p:sp>
        <p:nvSpPr>
          <p:cNvPr id="12" name="TextBox 11"/>
          <p:cNvSpPr txBox="1"/>
          <p:nvPr/>
        </p:nvSpPr>
        <p:spPr>
          <a:xfrm>
            <a:off x="8458200" y="3401568"/>
            <a:ext cx="137160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a:t>
            </a:r>
          </a:p>
        </p:txBody>
      </p:sp>
      <p:sp>
        <p:nvSpPr>
          <p:cNvPr id="13" name="TextBox 12"/>
          <p:cNvSpPr txBox="1"/>
          <p:nvPr/>
        </p:nvSpPr>
        <p:spPr>
          <a:xfrm>
            <a:off x="10195560" y="3401568"/>
            <a:ext cx="100584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a:t>
            </a:r>
          </a:p>
        </p:txBody>
      </p:sp>
      <p:sp>
        <p:nvSpPr>
          <p:cNvPr id="14" name="Rounded Rectangle 13"/>
          <p:cNvSpPr/>
          <p:nvPr/>
        </p:nvSpPr>
        <p:spPr>
          <a:xfrm>
            <a:off x="822960" y="3968496"/>
            <a:ext cx="10515600" cy="731520"/>
          </a:xfrm>
          <a:prstGeom prst="roundRect">
            <a:avLst>
              <a:gd name="adj" fmla="val 6000"/>
            </a:avLst>
          </a:prstGeom>
          <a:solidFill>
            <a:srgbClr val="EFF2E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187952"/>
            <a:ext cx="2286000" cy="548640"/>
          </a:xfrm>
          <a:prstGeom prst="rect">
            <a:avLst/>
          </a:prstGeom>
          <a:noFill/>
        </p:spPr>
        <p:txBody>
          <a:bodyPr wrap="square" lIns="0" rIns="0" tIns="0" bIns="0">
            <a:spAutoFit/>
          </a:bodyPr>
          <a:lstStyle/>
          <a:p>
            <a:pPr algn="l">
              <a:spcBef>
                <a:spcPts val="0"/>
              </a:spcBef>
              <a:spcAft>
                <a:spcPts val="0"/>
              </a:spcAft>
            </a:pPr>
            <a:r>
              <a:rPr sz="1350" b="1">
                <a:solidFill>
                  <a:srgbClr val="16211A"/>
                </a:solidFill>
                <a:latin typeface="Aptos"/>
              </a:rPr>
              <a:t>Jefe de área</a:t>
            </a:r>
          </a:p>
        </p:txBody>
      </p:sp>
      <p:sp>
        <p:nvSpPr>
          <p:cNvPr id="16" name="TextBox 15"/>
          <p:cNvSpPr txBox="1"/>
          <p:nvPr/>
        </p:nvSpPr>
        <p:spPr>
          <a:xfrm>
            <a:off x="3703320" y="4187952"/>
            <a:ext cx="438912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Toda su área</a:t>
            </a:r>
          </a:p>
        </p:txBody>
      </p:sp>
      <p:sp>
        <p:nvSpPr>
          <p:cNvPr id="17" name="TextBox 16"/>
          <p:cNvSpPr txBox="1"/>
          <p:nvPr/>
        </p:nvSpPr>
        <p:spPr>
          <a:xfrm>
            <a:off x="8458200" y="4187952"/>
            <a:ext cx="137160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Sí</a:t>
            </a:r>
          </a:p>
        </p:txBody>
      </p:sp>
      <p:sp>
        <p:nvSpPr>
          <p:cNvPr id="18" name="TextBox 17"/>
          <p:cNvSpPr txBox="1"/>
          <p:nvPr/>
        </p:nvSpPr>
        <p:spPr>
          <a:xfrm>
            <a:off x="10195560" y="4187952"/>
            <a:ext cx="100584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a:t>
            </a:r>
          </a:p>
        </p:txBody>
      </p:sp>
      <p:sp>
        <p:nvSpPr>
          <p:cNvPr id="19" name="Rounded Rectangle 18"/>
          <p:cNvSpPr/>
          <p:nvPr/>
        </p:nvSpPr>
        <p:spPr>
          <a:xfrm>
            <a:off x="822960" y="4754880"/>
            <a:ext cx="10515600" cy="731520"/>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974336"/>
            <a:ext cx="2286000" cy="548640"/>
          </a:xfrm>
          <a:prstGeom prst="rect">
            <a:avLst/>
          </a:prstGeom>
          <a:noFill/>
        </p:spPr>
        <p:txBody>
          <a:bodyPr wrap="square" lIns="0" rIns="0" tIns="0" bIns="0">
            <a:spAutoFit/>
          </a:bodyPr>
          <a:lstStyle/>
          <a:p>
            <a:pPr algn="l">
              <a:spcBef>
                <a:spcPts val="0"/>
              </a:spcBef>
              <a:spcAft>
                <a:spcPts val="0"/>
              </a:spcAft>
            </a:pPr>
            <a:r>
              <a:rPr sz="1350" b="1">
                <a:solidFill>
                  <a:srgbClr val="16211A"/>
                </a:solidFill>
                <a:latin typeface="Aptos"/>
              </a:rPr>
              <a:t>Administrador</a:t>
            </a:r>
          </a:p>
        </p:txBody>
      </p:sp>
      <p:sp>
        <p:nvSpPr>
          <p:cNvPr id="21" name="TextBox 20"/>
          <p:cNvSpPr txBox="1"/>
          <p:nvPr/>
        </p:nvSpPr>
        <p:spPr>
          <a:xfrm>
            <a:off x="3703320" y="4974336"/>
            <a:ext cx="438912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Las dos áreas</a:t>
            </a:r>
          </a:p>
        </p:txBody>
      </p:sp>
      <p:sp>
        <p:nvSpPr>
          <p:cNvPr id="22" name="TextBox 21"/>
          <p:cNvSpPr txBox="1"/>
          <p:nvPr/>
        </p:nvSpPr>
        <p:spPr>
          <a:xfrm>
            <a:off x="8458200" y="4974336"/>
            <a:ext cx="137160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Sí</a:t>
            </a:r>
          </a:p>
        </p:txBody>
      </p:sp>
      <p:sp>
        <p:nvSpPr>
          <p:cNvPr id="23" name="TextBox 22"/>
          <p:cNvSpPr txBox="1"/>
          <p:nvPr/>
        </p:nvSpPr>
        <p:spPr>
          <a:xfrm>
            <a:off x="10195560" y="4974336"/>
            <a:ext cx="1005840" cy="548640"/>
          </a:xfrm>
          <a:prstGeom prst="rect">
            <a:avLst/>
          </a:prstGeom>
          <a:noFill/>
        </p:spPr>
        <p:txBody>
          <a:bodyPr wrap="square" lIns="0" rIns="0" tIns="0" bIns="0">
            <a:spAutoFit/>
          </a:bodyPr>
          <a:lstStyle/>
          <a:p>
            <a:pPr algn="l">
              <a:spcBef>
                <a:spcPts val="0"/>
              </a:spcBef>
              <a:spcAft>
                <a:spcPts val="0"/>
              </a:spcAft>
            </a:pPr>
            <a:r>
              <a:rPr sz="1350" b="0">
                <a:solidFill>
                  <a:srgbClr val="47584D"/>
                </a:solidFill>
                <a:latin typeface="Aptos"/>
              </a:rPr>
              <a:t>Sí</a:t>
            </a:r>
          </a:p>
        </p:txBody>
      </p:sp>
      <p:sp>
        <p:nvSpPr>
          <p:cNvPr id="24" name="TextBox 23"/>
          <p:cNvSpPr txBox="1"/>
          <p:nvPr/>
        </p:nvSpPr>
        <p:spPr>
          <a:xfrm>
            <a:off x="822960" y="5806440"/>
            <a:ext cx="10515600" cy="731520"/>
          </a:xfrm>
          <a:prstGeom prst="rect">
            <a:avLst/>
          </a:prstGeom>
          <a:noFill/>
        </p:spPr>
        <p:txBody>
          <a:bodyPr wrap="square" lIns="0" rIns="0" tIns="0" bIns="0">
            <a:spAutoFit/>
          </a:bodyPr>
          <a:lstStyle/>
          <a:p>
            <a:pPr algn="l">
              <a:spcBef>
                <a:spcPts val="0"/>
              </a:spcBef>
              <a:spcAft>
                <a:spcPts val="0"/>
              </a:spcAft>
            </a:pPr>
            <a:r>
              <a:rPr sz="1400" b="0">
                <a:solidFill>
                  <a:srgbClr val="47584D"/>
                </a:solidFill>
                <a:latin typeface="Aptos"/>
              </a:rPr>
              <a:t>El cargo no importa: importa el alcance. Y el número de WhatsApp es la identidad — es lo único que permite saber de quién es un audio.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10</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ESTADO DE LA CONSTRUCCIÓN</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Qué está funcionando hoy</a:t>
            </a:r>
          </a:p>
        </p:txBody>
      </p:sp>
      <p:sp>
        <p:nvSpPr>
          <p:cNvPr id="5" name="Rounded Rectangle 4"/>
          <p:cNvSpPr/>
          <p:nvPr/>
        </p:nvSpPr>
        <p:spPr>
          <a:xfrm>
            <a:off x="822960" y="2331720"/>
            <a:ext cx="10515600" cy="73152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514600"/>
            <a:ext cx="457200" cy="457200"/>
          </a:xfrm>
          <a:prstGeom prst="rect">
            <a:avLst/>
          </a:prstGeom>
          <a:noFill/>
        </p:spPr>
        <p:txBody>
          <a:bodyPr wrap="square" lIns="0" rIns="0" tIns="0" bIns="0">
            <a:spAutoFit/>
          </a:bodyPr>
          <a:lstStyle/>
          <a:p>
            <a:pPr algn="l">
              <a:spcBef>
                <a:spcPts val="0"/>
              </a:spcBef>
              <a:spcAft>
                <a:spcPts val="0"/>
              </a:spcAft>
            </a:pPr>
            <a:r>
              <a:rPr sz="1700" b="1">
                <a:solidFill>
                  <a:srgbClr val="2F6F4E"/>
                </a:solidFill>
                <a:latin typeface="Aptos"/>
              </a:rPr>
              <a:t>✓</a:t>
            </a:r>
          </a:p>
        </p:txBody>
      </p:sp>
      <p:sp>
        <p:nvSpPr>
          <p:cNvPr id="7" name="TextBox 6"/>
          <p:cNvSpPr txBox="1"/>
          <p:nvPr/>
        </p:nvSpPr>
        <p:spPr>
          <a:xfrm>
            <a:off x="1783080" y="2450591"/>
            <a:ext cx="4206240" cy="640080"/>
          </a:xfrm>
          <a:prstGeom prst="rect">
            <a:avLst/>
          </a:prstGeom>
          <a:noFill/>
        </p:spPr>
        <p:txBody>
          <a:bodyPr wrap="square" lIns="0" rIns="0" tIns="0" bIns="0">
            <a:spAutoFit/>
          </a:bodyPr>
          <a:lstStyle/>
          <a:p>
            <a:pPr algn="l">
              <a:spcBef>
                <a:spcPts val="0"/>
              </a:spcBef>
              <a:spcAft>
                <a:spcPts val="0"/>
              </a:spcAft>
            </a:pPr>
            <a:r>
              <a:rPr sz="1450" b="1">
                <a:solidFill>
                  <a:srgbClr val="16211A"/>
                </a:solidFill>
                <a:latin typeface="Aptos"/>
              </a:rPr>
              <a:t>Accesos, roles y alcance por área</a:t>
            </a:r>
          </a:p>
        </p:txBody>
      </p:sp>
      <p:sp>
        <p:nvSpPr>
          <p:cNvPr id="8" name="TextBox 7"/>
          <p:cNvSpPr txBox="1"/>
          <p:nvPr/>
        </p:nvSpPr>
        <p:spPr>
          <a:xfrm>
            <a:off x="6126480" y="2478024"/>
            <a:ext cx="4937760" cy="640080"/>
          </a:xfrm>
          <a:prstGeom prst="rect">
            <a:avLst/>
          </a:prstGeom>
          <a:noFill/>
        </p:spPr>
        <p:txBody>
          <a:bodyPr wrap="square" lIns="0" rIns="0" tIns="0" bIns="0">
            <a:spAutoFit/>
          </a:bodyPr>
          <a:lstStyle/>
          <a:p>
            <a:pPr algn="l">
              <a:spcBef>
                <a:spcPts val="0"/>
              </a:spcBef>
              <a:spcAft>
                <a:spcPts val="0"/>
              </a:spcAft>
            </a:pPr>
            <a:r>
              <a:rPr sz="1250" b="0">
                <a:solidFill>
                  <a:srgbClr val="47584D"/>
                </a:solidFill>
                <a:latin typeface="Aptos"/>
              </a:rPr>
              <a:t>Cada persona ve lo suyo. Nadie de MN ve Altué.</a:t>
            </a:r>
          </a:p>
        </p:txBody>
      </p:sp>
      <p:sp>
        <p:nvSpPr>
          <p:cNvPr id="9" name="Rounded Rectangle 8"/>
          <p:cNvSpPr/>
          <p:nvPr/>
        </p:nvSpPr>
        <p:spPr>
          <a:xfrm>
            <a:off x="822960" y="3154679"/>
            <a:ext cx="10515600" cy="73152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337560"/>
            <a:ext cx="457200" cy="457200"/>
          </a:xfrm>
          <a:prstGeom prst="rect">
            <a:avLst/>
          </a:prstGeom>
          <a:noFill/>
        </p:spPr>
        <p:txBody>
          <a:bodyPr wrap="square" lIns="0" rIns="0" tIns="0" bIns="0">
            <a:spAutoFit/>
          </a:bodyPr>
          <a:lstStyle/>
          <a:p>
            <a:pPr algn="l">
              <a:spcBef>
                <a:spcPts val="0"/>
              </a:spcBef>
              <a:spcAft>
                <a:spcPts val="0"/>
              </a:spcAft>
            </a:pPr>
            <a:r>
              <a:rPr sz="1700" b="1">
                <a:solidFill>
                  <a:srgbClr val="2F6F4E"/>
                </a:solidFill>
                <a:latin typeface="Aptos"/>
              </a:rPr>
              <a:t>✓</a:t>
            </a:r>
          </a:p>
        </p:txBody>
      </p:sp>
      <p:sp>
        <p:nvSpPr>
          <p:cNvPr id="11" name="TextBox 10"/>
          <p:cNvSpPr txBox="1"/>
          <p:nvPr/>
        </p:nvSpPr>
        <p:spPr>
          <a:xfrm>
            <a:off x="1783080" y="3273551"/>
            <a:ext cx="4206240" cy="640080"/>
          </a:xfrm>
          <a:prstGeom prst="rect">
            <a:avLst/>
          </a:prstGeom>
          <a:noFill/>
        </p:spPr>
        <p:txBody>
          <a:bodyPr wrap="square" lIns="0" rIns="0" tIns="0" bIns="0">
            <a:spAutoFit/>
          </a:bodyPr>
          <a:lstStyle/>
          <a:p>
            <a:pPr algn="l">
              <a:spcBef>
                <a:spcPts val="0"/>
              </a:spcBef>
              <a:spcAft>
                <a:spcPts val="0"/>
              </a:spcAft>
            </a:pPr>
            <a:r>
              <a:rPr sz="1450" b="1">
                <a:solidFill>
                  <a:srgbClr val="16211A"/>
                </a:solidFill>
                <a:latin typeface="Aptos"/>
              </a:rPr>
              <a:t>Maestra cargada desde sus planillas</a:t>
            </a:r>
          </a:p>
        </p:txBody>
      </p:sp>
      <p:sp>
        <p:nvSpPr>
          <p:cNvPr id="12" name="TextBox 11"/>
          <p:cNvSpPr txBox="1"/>
          <p:nvPr/>
        </p:nvSpPr>
        <p:spPr>
          <a:xfrm>
            <a:off x="6126480" y="3300984"/>
            <a:ext cx="4937760" cy="640080"/>
          </a:xfrm>
          <a:prstGeom prst="rect">
            <a:avLst/>
          </a:prstGeom>
          <a:noFill/>
        </p:spPr>
        <p:txBody>
          <a:bodyPr wrap="square" lIns="0" rIns="0" tIns="0" bIns="0">
            <a:spAutoFit/>
          </a:bodyPr>
          <a:lstStyle/>
          <a:p>
            <a:pPr algn="l">
              <a:spcBef>
                <a:spcPts val="0"/>
              </a:spcBef>
              <a:spcAft>
                <a:spcPts val="0"/>
              </a:spcAft>
            </a:pPr>
            <a:r>
              <a:rPr sz="1250" b="0">
                <a:solidFill>
                  <a:srgbClr val="47584D"/>
                </a:solidFill>
                <a:latin typeface="Aptos"/>
              </a:rPr>
              <a:t>34 agricultores y 37 lotes, con los datos de trasplante de Altué ya adentro.</a:t>
            </a:r>
          </a:p>
        </p:txBody>
      </p:sp>
      <p:sp>
        <p:nvSpPr>
          <p:cNvPr id="13" name="Rounded Rectangle 12"/>
          <p:cNvSpPr/>
          <p:nvPr/>
        </p:nvSpPr>
        <p:spPr>
          <a:xfrm>
            <a:off x="822960" y="3977639"/>
            <a:ext cx="10515600" cy="73152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160520"/>
            <a:ext cx="457200" cy="457200"/>
          </a:xfrm>
          <a:prstGeom prst="rect">
            <a:avLst/>
          </a:prstGeom>
          <a:noFill/>
        </p:spPr>
        <p:txBody>
          <a:bodyPr wrap="square" lIns="0" rIns="0" tIns="0" bIns="0">
            <a:spAutoFit/>
          </a:bodyPr>
          <a:lstStyle/>
          <a:p>
            <a:pPr algn="l">
              <a:spcBef>
                <a:spcPts val="0"/>
              </a:spcBef>
              <a:spcAft>
                <a:spcPts val="0"/>
              </a:spcAft>
            </a:pPr>
            <a:r>
              <a:rPr sz="1700" b="1">
                <a:solidFill>
                  <a:srgbClr val="2F6F4E"/>
                </a:solidFill>
                <a:latin typeface="Aptos"/>
              </a:rPr>
              <a:t>✓</a:t>
            </a:r>
          </a:p>
        </p:txBody>
      </p:sp>
      <p:sp>
        <p:nvSpPr>
          <p:cNvPr id="15" name="TextBox 14"/>
          <p:cNvSpPr txBox="1"/>
          <p:nvPr/>
        </p:nvSpPr>
        <p:spPr>
          <a:xfrm>
            <a:off x="1783080" y="4096511"/>
            <a:ext cx="4206240" cy="640080"/>
          </a:xfrm>
          <a:prstGeom prst="rect">
            <a:avLst/>
          </a:prstGeom>
          <a:noFill/>
        </p:spPr>
        <p:txBody>
          <a:bodyPr wrap="square" lIns="0" rIns="0" tIns="0" bIns="0">
            <a:spAutoFit/>
          </a:bodyPr>
          <a:lstStyle/>
          <a:p>
            <a:pPr algn="l">
              <a:spcBef>
                <a:spcPts val="0"/>
              </a:spcBef>
              <a:spcAft>
                <a:spcPts val="0"/>
              </a:spcAft>
            </a:pPr>
            <a:r>
              <a:rPr sz="1450" b="1">
                <a:solidFill>
                  <a:srgbClr val="16211A"/>
                </a:solidFill>
                <a:latin typeface="Aptos"/>
              </a:rPr>
              <a:t>Entrada por WhatsApp</a:t>
            </a:r>
          </a:p>
        </p:txBody>
      </p:sp>
      <p:sp>
        <p:nvSpPr>
          <p:cNvPr id="16" name="TextBox 15"/>
          <p:cNvSpPr txBox="1"/>
          <p:nvPr/>
        </p:nvSpPr>
        <p:spPr>
          <a:xfrm>
            <a:off x="6126480" y="4123944"/>
            <a:ext cx="4937760" cy="640080"/>
          </a:xfrm>
          <a:prstGeom prst="rect">
            <a:avLst/>
          </a:prstGeom>
          <a:noFill/>
        </p:spPr>
        <p:txBody>
          <a:bodyPr wrap="square" lIns="0" rIns="0" tIns="0" bIns="0">
            <a:spAutoFit/>
          </a:bodyPr>
          <a:lstStyle/>
          <a:p>
            <a:pPr algn="l">
              <a:spcBef>
                <a:spcPts val="0"/>
              </a:spcBef>
              <a:spcAft>
                <a:spcPts val="0"/>
              </a:spcAft>
            </a:pPr>
            <a:r>
              <a:rPr sz="1250" b="0">
                <a:solidFill>
                  <a:srgbClr val="47584D"/>
                </a:solidFill>
                <a:latin typeface="Aptos"/>
              </a:rPr>
              <a:t>Audio, texto y fotos. Reconoce al zonal por su número.</a:t>
            </a:r>
          </a:p>
        </p:txBody>
      </p:sp>
      <p:sp>
        <p:nvSpPr>
          <p:cNvPr id="17" name="Rounded Rectangle 16"/>
          <p:cNvSpPr/>
          <p:nvPr/>
        </p:nvSpPr>
        <p:spPr>
          <a:xfrm>
            <a:off x="822960" y="4800600"/>
            <a:ext cx="10515600" cy="73152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983480"/>
            <a:ext cx="457200" cy="457200"/>
          </a:xfrm>
          <a:prstGeom prst="rect">
            <a:avLst/>
          </a:prstGeom>
          <a:noFill/>
        </p:spPr>
        <p:txBody>
          <a:bodyPr wrap="square" lIns="0" rIns="0" tIns="0" bIns="0">
            <a:spAutoFit/>
          </a:bodyPr>
          <a:lstStyle/>
          <a:p>
            <a:pPr algn="l">
              <a:spcBef>
                <a:spcPts val="0"/>
              </a:spcBef>
              <a:spcAft>
                <a:spcPts val="0"/>
              </a:spcAft>
            </a:pPr>
            <a:r>
              <a:rPr sz="1700" b="1">
                <a:solidFill>
                  <a:srgbClr val="2F6F4E"/>
                </a:solidFill>
                <a:latin typeface="Aptos"/>
              </a:rPr>
              <a:t>✓</a:t>
            </a:r>
          </a:p>
        </p:txBody>
      </p:sp>
      <p:sp>
        <p:nvSpPr>
          <p:cNvPr id="19" name="TextBox 18"/>
          <p:cNvSpPr txBox="1"/>
          <p:nvPr/>
        </p:nvSpPr>
        <p:spPr>
          <a:xfrm>
            <a:off x="1783080" y="4919472"/>
            <a:ext cx="4206240" cy="640080"/>
          </a:xfrm>
          <a:prstGeom prst="rect">
            <a:avLst/>
          </a:prstGeom>
          <a:noFill/>
        </p:spPr>
        <p:txBody>
          <a:bodyPr wrap="square" lIns="0" rIns="0" tIns="0" bIns="0">
            <a:spAutoFit/>
          </a:bodyPr>
          <a:lstStyle/>
          <a:p>
            <a:pPr algn="l">
              <a:spcBef>
                <a:spcPts val="0"/>
              </a:spcBef>
              <a:spcAft>
                <a:spcPts val="0"/>
              </a:spcAft>
            </a:pPr>
            <a:r>
              <a:rPr sz="1450" b="1">
                <a:solidFill>
                  <a:srgbClr val="16211A"/>
                </a:solidFill>
                <a:latin typeface="Aptos"/>
              </a:rPr>
              <a:t>Historial por agricultor y por lote</a:t>
            </a:r>
          </a:p>
        </p:txBody>
      </p:sp>
      <p:sp>
        <p:nvSpPr>
          <p:cNvPr id="20" name="TextBox 19"/>
          <p:cNvSpPr txBox="1"/>
          <p:nvPr/>
        </p:nvSpPr>
        <p:spPr>
          <a:xfrm>
            <a:off x="6126480" y="4946904"/>
            <a:ext cx="4937760" cy="640080"/>
          </a:xfrm>
          <a:prstGeom prst="rect">
            <a:avLst/>
          </a:prstGeom>
          <a:noFill/>
        </p:spPr>
        <p:txBody>
          <a:bodyPr wrap="square" lIns="0" rIns="0" tIns="0" bIns="0">
            <a:spAutoFit/>
          </a:bodyPr>
          <a:lstStyle/>
          <a:p>
            <a:pPr algn="l">
              <a:spcBef>
                <a:spcPts val="0"/>
              </a:spcBef>
              <a:spcAft>
                <a:spcPts val="0"/>
              </a:spcAft>
            </a:pPr>
            <a:r>
              <a:rPr sz="1250" b="0">
                <a:solidFill>
                  <a:srgbClr val="47584D"/>
                </a:solidFill>
                <a:latin typeface="Aptos"/>
              </a:rPr>
              <a:t>Con la frase textual del zonal a la vista, no solo lo que la IA entendió.</a:t>
            </a:r>
          </a:p>
        </p:txBody>
      </p:sp>
      <p:sp>
        <p:nvSpPr>
          <p:cNvPr id="21" name="Rounded Rectangle 20"/>
          <p:cNvSpPr/>
          <p:nvPr/>
        </p:nvSpPr>
        <p:spPr>
          <a:xfrm>
            <a:off x="822960" y="5623560"/>
            <a:ext cx="10515600" cy="73152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806440"/>
            <a:ext cx="457200" cy="457200"/>
          </a:xfrm>
          <a:prstGeom prst="rect">
            <a:avLst/>
          </a:prstGeom>
          <a:noFill/>
        </p:spPr>
        <p:txBody>
          <a:bodyPr wrap="square" lIns="0" rIns="0" tIns="0" bIns="0">
            <a:spAutoFit/>
          </a:bodyPr>
          <a:lstStyle/>
          <a:p>
            <a:pPr algn="l">
              <a:spcBef>
                <a:spcPts val="0"/>
              </a:spcBef>
              <a:spcAft>
                <a:spcPts val="0"/>
              </a:spcAft>
            </a:pPr>
            <a:r>
              <a:rPr sz="1700" b="1">
                <a:solidFill>
                  <a:srgbClr val="B45309"/>
                </a:solidFill>
                <a:latin typeface="Aptos"/>
              </a:rPr>
              <a:t>○</a:t>
            </a:r>
          </a:p>
        </p:txBody>
      </p:sp>
      <p:sp>
        <p:nvSpPr>
          <p:cNvPr id="23" name="TextBox 22"/>
          <p:cNvSpPr txBox="1"/>
          <p:nvPr/>
        </p:nvSpPr>
        <p:spPr>
          <a:xfrm>
            <a:off x="1783080" y="5742432"/>
            <a:ext cx="4206240" cy="640080"/>
          </a:xfrm>
          <a:prstGeom prst="rect">
            <a:avLst/>
          </a:prstGeom>
          <a:noFill/>
        </p:spPr>
        <p:txBody>
          <a:bodyPr wrap="square" lIns="0" rIns="0" tIns="0" bIns="0">
            <a:spAutoFit/>
          </a:bodyPr>
          <a:lstStyle/>
          <a:p>
            <a:pPr algn="l">
              <a:spcBef>
                <a:spcPts val="0"/>
              </a:spcBef>
              <a:spcAft>
                <a:spcPts val="0"/>
              </a:spcAft>
            </a:pPr>
            <a:r>
              <a:rPr sz="1450" b="1">
                <a:solidFill>
                  <a:srgbClr val="16211A"/>
                </a:solidFill>
                <a:latin typeface="Aptos"/>
              </a:rPr>
              <a:t>Envío del informe al agricultor</a:t>
            </a:r>
          </a:p>
        </p:txBody>
      </p:sp>
      <p:sp>
        <p:nvSpPr>
          <p:cNvPr id="24" name="TextBox 23"/>
          <p:cNvSpPr txBox="1"/>
          <p:nvPr/>
        </p:nvSpPr>
        <p:spPr>
          <a:xfrm>
            <a:off x="6126480" y="5769864"/>
            <a:ext cx="4937760" cy="640080"/>
          </a:xfrm>
          <a:prstGeom prst="rect">
            <a:avLst/>
          </a:prstGeom>
          <a:noFill/>
        </p:spPr>
        <p:txBody>
          <a:bodyPr wrap="square" lIns="0" rIns="0" tIns="0" bIns="0">
            <a:spAutoFit/>
          </a:bodyPr>
          <a:lstStyle/>
          <a:p>
            <a:pPr algn="l">
              <a:spcBef>
                <a:spcPts val="0"/>
              </a:spcBef>
              <a:spcAft>
                <a:spcPts val="0"/>
              </a:spcAft>
            </a:pPr>
            <a:r>
              <a:rPr sz="1250" b="0">
                <a:solidFill>
                  <a:srgbClr val="47584D"/>
                </a:solidFill>
                <a:latin typeface="Aptos"/>
              </a:rPr>
              <a:t>Falta el dato que ninguna de las dos planillas trajo: su teléfono.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11</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LO QUE NECESITAMOS DE USTEDES</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Tres cosas, y la tercera es la que más pesa</a:t>
            </a:r>
          </a:p>
        </p:txBody>
      </p:sp>
      <p:sp>
        <p:nvSpPr>
          <p:cNvPr id="5" name="Rounded Rectangle 4"/>
          <p:cNvSpPr/>
          <p:nvPr/>
        </p:nvSpPr>
        <p:spPr>
          <a:xfrm>
            <a:off x="822960" y="2377440"/>
            <a:ext cx="10515600" cy="1115568"/>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578608"/>
            <a:ext cx="548640" cy="731520"/>
          </a:xfrm>
          <a:prstGeom prst="rect">
            <a:avLst/>
          </a:prstGeom>
          <a:noFill/>
        </p:spPr>
        <p:txBody>
          <a:bodyPr wrap="square" lIns="0" rIns="0" tIns="0" bIns="0">
            <a:spAutoFit/>
          </a:bodyPr>
          <a:lstStyle/>
          <a:p>
            <a:pPr algn="l">
              <a:spcBef>
                <a:spcPts val="0"/>
              </a:spcBef>
              <a:spcAft>
                <a:spcPts val="0"/>
              </a:spcAft>
            </a:pPr>
            <a:r>
              <a:rPr sz="2600" b="1">
                <a:solidFill>
                  <a:srgbClr val="B45309"/>
                </a:solidFill>
                <a:latin typeface="Aptos"/>
              </a:rPr>
              <a:t>1</a:t>
            </a:r>
          </a:p>
        </p:txBody>
      </p:sp>
      <p:sp>
        <p:nvSpPr>
          <p:cNvPr id="7" name="TextBox 6"/>
          <p:cNvSpPr txBox="1"/>
          <p:nvPr/>
        </p:nvSpPr>
        <p:spPr>
          <a:xfrm>
            <a:off x="1920240" y="2560320"/>
            <a:ext cx="9144000" cy="914400"/>
          </a:xfrm>
          <a:prstGeom prst="rect">
            <a:avLst/>
          </a:prstGeom>
          <a:noFill/>
        </p:spPr>
        <p:txBody>
          <a:bodyPr wrap="square" lIns="0" rIns="0" tIns="0" bIns="0">
            <a:spAutoFit/>
          </a:bodyPr>
          <a:lstStyle/>
          <a:p>
            <a:pPr algn="l">
              <a:spcBef>
                <a:spcPts val="0"/>
              </a:spcBef>
              <a:spcAft>
                <a:spcPts val="500"/>
              </a:spcAft>
            </a:pPr>
            <a:r>
              <a:rPr sz="1550" b="1">
                <a:solidFill>
                  <a:srgbClr val="16211A"/>
                </a:solidFill>
                <a:latin typeface="Aptos"/>
              </a:rPr>
              <a:t>El teléfono del agricultor</a:t>
            </a:r>
          </a:p>
          <a:p>
            <a:pPr algn="l">
              <a:spcBef>
                <a:spcPts val="0"/>
              </a:spcBef>
              <a:spcAft>
                <a:spcPts val="0"/>
              </a:spcAft>
            </a:pPr>
            <a:r>
              <a:rPr sz="1250" b="0">
                <a:solidFill>
                  <a:srgbClr val="47584D"/>
                </a:solidFill>
                <a:latin typeface="Aptos"/>
              </a:rPr>
              <a:t>Las 14 filas de MN trajeron las columnas de contacto vacías, y la sábana de Altué vino anonimizada. Sin ese dato se registra la visita, pero no se le puede mandar el informe a nadie.</a:t>
            </a:r>
          </a:p>
        </p:txBody>
      </p:sp>
      <p:sp>
        <p:nvSpPr>
          <p:cNvPr id="8" name="Rounded Rectangle 7"/>
          <p:cNvSpPr/>
          <p:nvPr/>
        </p:nvSpPr>
        <p:spPr>
          <a:xfrm>
            <a:off x="822960" y="3584448"/>
            <a:ext cx="10515600" cy="1115568"/>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785615"/>
            <a:ext cx="548640" cy="731520"/>
          </a:xfrm>
          <a:prstGeom prst="rect">
            <a:avLst/>
          </a:prstGeom>
          <a:noFill/>
        </p:spPr>
        <p:txBody>
          <a:bodyPr wrap="square" lIns="0" rIns="0" tIns="0" bIns="0">
            <a:spAutoFit/>
          </a:bodyPr>
          <a:lstStyle/>
          <a:p>
            <a:pPr algn="l">
              <a:spcBef>
                <a:spcPts val="0"/>
              </a:spcBef>
              <a:spcAft>
                <a:spcPts val="0"/>
              </a:spcAft>
            </a:pPr>
            <a:r>
              <a:rPr sz="2600" b="1">
                <a:solidFill>
                  <a:srgbClr val="47584D"/>
                </a:solidFill>
                <a:latin typeface="Aptos"/>
              </a:rPr>
              <a:t>2</a:t>
            </a:r>
          </a:p>
        </p:txBody>
      </p:sp>
      <p:sp>
        <p:nvSpPr>
          <p:cNvPr id="10" name="TextBox 9"/>
          <p:cNvSpPr txBox="1"/>
          <p:nvPr/>
        </p:nvSpPr>
        <p:spPr>
          <a:xfrm>
            <a:off x="1920240" y="3767328"/>
            <a:ext cx="9144000" cy="914400"/>
          </a:xfrm>
          <a:prstGeom prst="rect">
            <a:avLst/>
          </a:prstGeom>
          <a:noFill/>
        </p:spPr>
        <p:txBody>
          <a:bodyPr wrap="square" lIns="0" rIns="0" tIns="0" bIns="0">
            <a:spAutoFit/>
          </a:bodyPr>
          <a:lstStyle/>
          <a:p>
            <a:pPr algn="l">
              <a:spcBef>
                <a:spcPts val="0"/>
              </a:spcBef>
              <a:spcAft>
                <a:spcPts val="500"/>
              </a:spcAft>
            </a:pPr>
            <a:r>
              <a:rPr sz="1550" b="1">
                <a:solidFill>
                  <a:srgbClr val="16211A"/>
                </a:solidFill>
                <a:latin typeface="Aptos"/>
              </a:rPr>
              <a:t>Los zonales y sus números</a:t>
            </a:r>
          </a:p>
          <a:p>
            <a:pPr algn="l">
              <a:spcBef>
                <a:spcPts val="0"/>
              </a:spcBef>
              <a:spcAft>
                <a:spcPts val="0"/>
              </a:spcAft>
            </a:pPr>
            <a:r>
              <a:rPr sz="1250" b="0">
                <a:solidFill>
                  <a:srgbClr val="47584D"/>
                </a:solidFill>
                <a:latin typeface="Aptos"/>
              </a:rPr>
              <a:t>Hoy figuran Francisco Pinochet, Carlos Mancilla y José Casanova en las planillas — sin cuenta ni número. El número es la identidad del sistema.</a:t>
            </a:r>
          </a:p>
        </p:txBody>
      </p:sp>
      <p:sp>
        <p:nvSpPr>
          <p:cNvPr id="11" name="Rounded Rectangle 10"/>
          <p:cNvSpPr/>
          <p:nvPr/>
        </p:nvSpPr>
        <p:spPr>
          <a:xfrm>
            <a:off x="822960" y="4791456"/>
            <a:ext cx="10515600" cy="1115568"/>
          </a:xfrm>
          <a:prstGeom prst="roundRect">
            <a:avLst>
              <a:gd name="adj" fmla="val 6000"/>
            </a:avLst>
          </a:prstGeom>
          <a:solidFill>
            <a:srgbClr val="FFFFFF"/>
          </a:solidFill>
          <a:ln w="12700">
            <a:solidFill>
              <a:srgbClr val="DF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992624"/>
            <a:ext cx="548640" cy="731520"/>
          </a:xfrm>
          <a:prstGeom prst="rect">
            <a:avLst/>
          </a:prstGeom>
          <a:noFill/>
        </p:spPr>
        <p:txBody>
          <a:bodyPr wrap="square" lIns="0" rIns="0" tIns="0" bIns="0">
            <a:spAutoFit/>
          </a:bodyPr>
          <a:lstStyle/>
          <a:p>
            <a:pPr algn="l">
              <a:spcBef>
                <a:spcPts val="0"/>
              </a:spcBef>
              <a:spcAft>
                <a:spcPts val="0"/>
              </a:spcAft>
            </a:pPr>
            <a:r>
              <a:rPr sz="2600" b="1">
                <a:solidFill>
                  <a:srgbClr val="2F6F4E"/>
                </a:solidFill>
                <a:latin typeface="Aptos"/>
              </a:rPr>
              <a:t>3</a:t>
            </a:r>
          </a:p>
        </p:txBody>
      </p:sp>
      <p:sp>
        <p:nvSpPr>
          <p:cNvPr id="13" name="TextBox 12"/>
          <p:cNvSpPr txBox="1"/>
          <p:nvPr/>
        </p:nvSpPr>
        <p:spPr>
          <a:xfrm>
            <a:off x="1920240" y="4974336"/>
            <a:ext cx="9144000" cy="914400"/>
          </a:xfrm>
          <a:prstGeom prst="rect">
            <a:avLst/>
          </a:prstGeom>
          <a:noFill/>
        </p:spPr>
        <p:txBody>
          <a:bodyPr wrap="square" lIns="0" rIns="0" tIns="0" bIns="0">
            <a:spAutoFit/>
          </a:bodyPr>
          <a:lstStyle/>
          <a:p>
            <a:pPr algn="l">
              <a:spcBef>
                <a:spcPts val="0"/>
              </a:spcBef>
              <a:spcAft>
                <a:spcPts val="500"/>
              </a:spcAft>
            </a:pPr>
            <a:r>
              <a:rPr sz="1550" b="1">
                <a:solidFill>
                  <a:srgbClr val="16211A"/>
                </a:solidFill>
                <a:latin typeface="Aptos"/>
              </a:rPr>
              <a:t>Un audio real</a:t>
            </a:r>
          </a:p>
          <a:p>
            <a:pPr algn="l">
              <a:spcBef>
                <a:spcPts val="0"/>
              </a:spcBef>
              <a:spcAft>
                <a:spcPts val="0"/>
              </a:spcAft>
            </a:pPr>
            <a:r>
              <a:rPr sz="1250" b="0">
                <a:solidFill>
                  <a:srgbClr val="47584D"/>
                </a:solidFill>
                <a:latin typeface="Aptos"/>
              </a:rPr>
              <a:t>Uno de verdad, de una visita de verdad, sin ensayar. Es lo único que dice si esto funciona: el ruido de la camioneta y las frases a medias son el problema, no el vocabulario.</a:t>
            </a:r>
          </a:p>
        </p:txBody>
      </p:sp>
      <p:sp>
        <p:nvSpPr>
          <p:cNvPr id="14" name="TextBox 13"/>
          <p:cNvSpPr txBox="1"/>
          <p:nvPr/>
        </p:nvSpPr>
        <p:spPr>
          <a:xfrm>
            <a:off x="822960" y="6080760"/>
            <a:ext cx="10515600" cy="365760"/>
          </a:xfrm>
          <a:prstGeom prst="rect">
            <a:avLst/>
          </a:prstGeom>
          <a:noFill/>
        </p:spPr>
        <p:txBody>
          <a:bodyPr wrap="square" lIns="0" rIns="0" tIns="0" bIns="0">
            <a:spAutoFit/>
          </a:bodyPr>
          <a:lstStyle/>
          <a:p>
            <a:pPr algn="l">
              <a:spcBef>
                <a:spcPts val="0"/>
              </a:spcBef>
              <a:spcAft>
                <a:spcPts val="0"/>
              </a:spcAft>
            </a:pPr>
            <a:r>
              <a:rPr sz="1300" b="0">
                <a:solidFill>
                  <a:srgbClr val="47584D"/>
                </a:solidFill>
                <a:latin typeface="Aptos"/>
              </a:rPr>
              <a:t>La sábana consolidada va adjunta en Excel, con el detalle campo por campo y de qué planilla salió cada uno.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12</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CÓMO SE MIDE LA PRUEBA DE CONCEPTO</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El antes y el después que se puede demostrar</a:t>
            </a:r>
          </a:p>
        </p:txBody>
      </p:sp>
      <p:sp>
        <p:nvSpPr>
          <p:cNvPr id="5" name="Rounded Rectangle 4"/>
          <p:cNvSpPr/>
          <p:nvPr/>
        </p:nvSpPr>
        <p:spPr>
          <a:xfrm>
            <a:off x="822960" y="2651760"/>
            <a:ext cx="5029200" cy="237744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971800"/>
            <a:ext cx="4206240" cy="1828800"/>
          </a:xfrm>
          <a:prstGeom prst="rect">
            <a:avLst/>
          </a:prstGeom>
          <a:noFill/>
        </p:spPr>
        <p:txBody>
          <a:bodyPr wrap="square" lIns="0" rIns="0" tIns="0" bIns="0">
            <a:spAutoFit/>
          </a:bodyPr>
          <a:lstStyle/>
          <a:p>
            <a:pPr algn="l">
              <a:spcBef>
                <a:spcPts val="0"/>
              </a:spcBef>
              <a:spcAft>
                <a:spcPts val="1200"/>
              </a:spcAft>
            </a:pPr>
            <a:r>
              <a:rPr sz="1300" b="1">
                <a:solidFill>
                  <a:srgbClr val="B45309"/>
                </a:solidFill>
                <a:latin typeface="Aptos"/>
              </a:rPr>
              <a:t>HOY</a:t>
            </a:r>
          </a:p>
          <a:p>
            <a:pPr algn="l">
              <a:spcBef>
                <a:spcPts val="0"/>
              </a:spcBef>
              <a:spcAft>
                <a:spcPts val="600"/>
              </a:spcAft>
            </a:pPr>
            <a:r>
              <a:rPr sz="4000" b="1">
                <a:solidFill>
                  <a:srgbClr val="B45309"/>
                </a:solidFill>
                <a:latin typeface="Aptos"/>
              </a:rPr>
              <a:t>~50%</a:t>
            </a:r>
          </a:p>
          <a:p>
            <a:pPr algn="l">
              <a:spcBef>
                <a:spcPts val="0"/>
              </a:spcBef>
              <a:spcAft>
                <a:spcPts val="0"/>
              </a:spcAft>
            </a:pPr>
            <a:r>
              <a:rPr sz="1300" b="0">
                <a:solidFill>
                  <a:srgbClr val="47584D"/>
                </a:solidFill>
                <a:latin typeface="Aptos"/>
              </a:rPr>
              <a:t>de las visitas quedan respaldadas por WhatsApp — estimación de Francisco.
Y de ese 50%, nada queda consultable después.</a:t>
            </a:r>
          </a:p>
        </p:txBody>
      </p:sp>
      <p:sp>
        <p:nvSpPr>
          <p:cNvPr id="7" name="Rounded Rectangle 6"/>
          <p:cNvSpPr/>
          <p:nvPr/>
        </p:nvSpPr>
        <p:spPr>
          <a:xfrm>
            <a:off x="6309360" y="2651760"/>
            <a:ext cx="5029200" cy="2377440"/>
          </a:xfrm>
          <a:prstGeom prst="roundRect">
            <a:avLst>
              <a:gd name="adj" fmla="val 6000"/>
            </a:avLst>
          </a:prstGeom>
          <a:solidFill>
            <a:srgbClr val="E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2971800"/>
            <a:ext cx="4206240" cy="1828800"/>
          </a:xfrm>
          <a:prstGeom prst="rect">
            <a:avLst/>
          </a:prstGeom>
          <a:noFill/>
        </p:spPr>
        <p:txBody>
          <a:bodyPr wrap="square" lIns="0" rIns="0" tIns="0" bIns="0">
            <a:spAutoFit/>
          </a:bodyPr>
          <a:lstStyle/>
          <a:p>
            <a:pPr algn="l">
              <a:spcBef>
                <a:spcPts val="0"/>
              </a:spcBef>
              <a:spcAft>
                <a:spcPts val="1200"/>
              </a:spcAft>
            </a:pPr>
            <a:r>
              <a:rPr sz="1300" b="1">
                <a:solidFill>
                  <a:srgbClr val="2F6F4E"/>
                </a:solidFill>
                <a:latin typeface="Aptos"/>
              </a:rPr>
              <a:t>CON EL SISTEMA</a:t>
            </a:r>
          </a:p>
          <a:p>
            <a:pPr algn="l">
              <a:spcBef>
                <a:spcPts val="0"/>
              </a:spcBef>
              <a:spcAft>
                <a:spcPts val="600"/>
              </a:spcAft>
            </a:pPr>
            <a:r>
              <a:rPr sz="4000" b="1">
                <a:solidFill>
                  <a:srgbClr val="2F6F4E"/>
                </a:solidFill>
                <a:latin typeface="Aptos"/>
              </a:rPr>
              <a:t>100%</a:t>
            </a:r>
          </a:p>
          <a:p>
            <a:pPr algn="l">
              <a:spcBef>
                <a:spcPts val="0"/>
              </a:spcBef>
              <a:spcAft>
                <a:spcPts val="0"/>
              </a:spcAft>
            </a:pPr>
            <a:r>
              <a:rPr sz="1300" b="0">
                <a:solidFill>
                  <a:srgbClr val="47584D"/>
                </a:solidFill>
                <a:latin typeface="Aptos"/>
              </a:rPr>
              <a:t>de las visitas registradas, con fecha, autor, fotos y nota agronómica —
y buscables por agricultor y por lote.</a:t>
            </a:r>
          </a:p>
        </p:txBody>
      </p:sp>
      <p:sp>
        <p:nvSpPr>
          <p:cNvPr id="9" name="TextBox 8"/>
          <p:cNvSpPr txBox="1"/>
          <p:nvPr/>
        </p:nvSpPr>
        <p:spPr>
          <a:xfrm>
            <a:off x="822960" y="5349240"/>
            <a:ext cx="10515600" cy="1005840"/>
          </a:xfrm>
          <a:prstGeom prst="rect">
            <a:avLst/>
          </a:prstGeom>
          <a:noFill/>
        </p:spPr>
        <p:txBody>
          <a:bodyPr wrap="square" lIns="0" rIns="0" tIns="0" bIns="0">
            <a:spAutoFit/>
          </a:bodyPr>
          <a:lstStyle/>
          <a:p>
            <a:pPr algn="l">
              <a:spcBef>
                <a:spcPts val="0"/>
              </a:spcBef>
              <a:spcAft>
                <a:spcPts val="0"/>
              </a:spcAft>
            </a:pPr>
            <a:r>
              <a:rPr sz="1500" b="0">
                <a:solidFill>
                  <a:srgbClr val="47584D"/>
                </a:solidFill>
                <a:latin typeface="Aptos"/>
              </a:rPr>
              <a:t>Y una segunda cifra que hoy no existe en ninguna de las dos áreas: la nota agronómica del mismo lote a lo largo de la temporada. Es la que permite comparar entre visitas, entre zonales y entre temporadas.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Box 1"/>
          <p:cNvSpPr txBox="1"/>
          <p:nvPr/>
        </p:nvSpPr>
        <p:spPr>
          <a:xfrm>
            <a:off x="10607040" y="6263640"/>
            <a:ext cx="1097280" cy="274320"/>
          </a:xfrm>
          <a:prstGeom prst="rect">
            <a:avLst/>
          </a:prstGeom>
          <a:noFill/>
        </p:spPr>
        <p:txBody>
          <a:bodyPr wrap="square" lIns="0" rIns="0" tIns="0" bIns="0">
            <a:spAutoFit/>
          </a:bodyPr>
          <a:lstStyle/>
          <a:p>
            <a:pPr algn="r">
              <a:spcBef>
                <a:spcPts val="0"/>
              </a:spcBef>
              <a:spcAft>
                <a:spcPts val="0"/>
              </a:spcAft>
            </a:pPr>
            <a:r>
              <a:rPr sz="1000" b="0">
                <a:solidFill>
                  <a:srgbClr val="7D8C82"/>
                </a:solidFill>
                <a:latin typeface="Aptos"/>
              </a:rPr>
              <a:t>13</a:t>
            </a:r>
          </a:p>
        </p:txBody>
      </p:sp>
      <p:sp>
        <p:nvSpPr>
          <p:cNvPr id="3" name="TextBox 2"/>
          <p:cNvSpPr txBox="1"/>
          <p:nvPr/>
        </p:nvSpPr>
        <p:spPr>
          <a:xfrm>
            <a:off x="822960" y="502920"/>
            <a:ext cx="10515600" cy="365760"/>
          </a:xfrm>
          <a:prstGeom prst="rect">
            <a:avLst/>
          </a:prstGeom>
          <a:noFill/>
        </p:spPr>
        <p:txBody>
          <a:bodyPr wrap="square" lIns="0" rIns="0" tIns="0" bIns="0">
            <a:spAutoFit/>
          </a:bodyPr>
          <a:lstStyle/>
          <a:p>
            <a:pPr algn="l">
              <a:spcBef>
                <a:spcPts val="0"/>
              </a:spcBef>
              <a:spcAft>
                <a:spcPts val="0"/>
              </a:spcAft>
            </a:pPr>
            <a:r>
              <a:rPr sz="1100" b="1">
                <a:solidFill>
                  <a:srgbClr val="2F6F4E"/>
                </a:solidFill>
                <a:latin typeface="Aptos"/>
              </a:rPr>
              <a:t>LO QUE DEJAMOS FUERA, A PROPÓSITO</a:t>
            </a:r>
          </a:p>
        </p:txBody>
      </p:sp>
      <p:sp>
        <p:nvSpPr>
          <p:cNvPr id="4" name="TextBox 3"/>
          <p:cNvSpPr txBox="1"/>
          <p:nvPr/>
        </p:nvSpPr>
        <p:spPr>
          <a:xfrm>
            <a:off x="822960" y="960120"/>
            <a:ext cx="10515600" cy="1005840"/>
          </a:xfrm>
          <a:prstGeom prst="rect">
            <a:avLst/>
          </a:prstGeom>
          <a:noFill/>
        </p:spPr>
        <p:txBody>
          <a:bodyPr wrap="square" lIns="0" rIns="0" tIns="0" bIns="0">
            <a:spAutoFit/>
          </a:bodyPr>
          <a:lstStyle/>
          <a:p>
            <a:pPr algn="l">
              <a:spcBef>
                <a:spcPts val="0"/>
              </a:spcBef>
              <a:spcAft>
                <a:spcPts val="0"/>
              </a:spcAft>
            </a:pPr>
            <a:r>
              <a:rPr sz="3200" b="1">
                <a:solidFill>
                  <a:srgbClr val="16211A"/>
                </a:solidFill>
                <a:latin typeface="Aptos"/>
              </a:rPr>
              <a:t>La reportería mensual al cliente en el extranjero</a:t>
            </a:r>
          </a:p>
        </p:txBody>
      </p:sp>
      <p:sp>
        <p:nvSpPr>
          <p:cNvPr id="5" name="Rounded Rectangle 4"/>
          <p:cNvSpPr/>
          <p:nvPr/>
        </p:nvSpPr>
        <p:spPr>
          <a:xfrm>
            <a:off x="822960" y="2606040"/>
            <a:ext cx="10515600" cy="1463040"/>
          </a:xfrm>
          <a:prstGeom prst="roundRect">
            <a:avLst>
              <a:gd name="adj" fmla="val 6000"/>
            </a:avLst>
          </a:prstGeom>
          <a:solidFill>
            <a:srgbClr val="EAE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880360"/>
            <a:ext cx="9692640" cy="1371600"/>
          </a:xfrm>
          <a:prstGeom prst="rect">
            <a:avLst/>
          </a:prstGeom>
          <a:noFill/>
        </p:spPr>
        <p:txBody>
          <a:bodyPr wrap="square" lIns="0" rIns="0" tIns="0" bIns="0">
            <a:spAutoFit/>
          </a:bodyPr>
          <a:lstStyle/>
          <a:p>
            <a:pPr algn="l">
              <a:spcBef>
                <a:spcPts val="0"/>
              </a:spcBef>
              <a:spcAft>
                <a:spcPts val="0"/>
              </a:spcAft>
            </a:pPr>
            <a:r>
              <a:rPr sz="1500" b="0">
                <a:solidFill>
                  <a:srgbClr val="47584D"/>
                </a:solidFill>
                <a:latin typeface="Aptos"/>
              </a:rPr>
              <a:t>Hoy René arma ese informe a mano: baja las fotos de los teléfonos de los zonales, las ordena en Drive por agricultor y fecha, y las pega una por una en un PowerPoint con un comentario.</a:t>
            </a:r>
          </a:p>
          <a:p>
            <a:pPr algn="l">
              <a:spcBef>
                <a:spcPts val="1000"/>
              </a:spcBef>
              <a:spcAft>
                <a:spcPts val="0"/>
              </a:spcAft>
            </a:pPr>
            <a:r>
              <a:rPr sz="1500" b="1">
                <a:solidFill>
                  <a:srgbClr val="16211A"/>
                </a:solidFill>
                <a:latin typeface="Aptos"/>
              </a:rPr>
              <a:t>Es probablemente el dolor de mayor retorno de los dos. Y por eso mismo no entra acá.</a:t>
            </a:r>
          </a:p>
        </p:txBody>
      </p:sp>
      <p:sp>
        <p:nvSpPr>
          <p:cNvPr id="7" name="TextBox 6"/>
          <p:cNvSpPr txBox="1"/>
          <p:nvPr/>
        </p:nvSpPr>
        <p:spPr>
          <a:xfrm>
            <a:off x="822960" y="4389120"/>
            <a:ext cx="10515600" cy="1463040"/>
          </a:xfrm>
          <a:prstGeom prst="rect">
            <a:avLst/>
          </a:prstGeom>
          <a:noFill/>
        </p:spPr>
        <p:txBody>
          <a:bodyPr wrap="square" lIns="0" rIns="0" tIns="0" bIns="0">
            <a:spAutoFit/>
          </a:bodyPr>
          <a:lstStyle/>
          <a:p>
            <a:pPr algn="l">
              <a:spcBef>
                <a:spcPts val="0"/>
              </a:spcBef>
              <a:spcAft>
                <a:spcPts val="0"/>
              </a:spcAft>
            </a:pPr>
            <a:r>
              <a:rPr sz="1500" b="0">
                <a:solidFill>
                  <a:srgbClr val="47584D"/>
                </a:solidFill>
                <a:latin typeface="Aptos"/>
              </a:rPr>
              <a:t>Tiene otro destinatario, otro formato y otra cadencia. Meterlo en la prueba de concepto la diluye y alarga la primera demostración.</a:t>
            </a:r>
          </a:p>
          <a:p>
            <a:pPr algn="l">
              <a:spcBef>
                <a:spcPts val="1000"/>
              </a:spcBef>
              <a:spcAft>
                <a:spcPts val="0"/>
              </a:spcAft>
            </a:pPr>
            <a:r>
              <a:rPr sz="1500" b="1">
                <a:solidFill>
                  <a:srgbClr val="2F6F4E"/>
                </a:solidFill>
                <a:latin typeface="Aptos"/>
              </a:rPr>
              <a:t>Se aborda después — y se aborda mejor, con el historial y las fotos ya cargadas por el flujo de arriba.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E24"/>
        </a:solidFill>
        <a:effectLst/>
      </p:bgPr>
    </p:bg>
    <p:spTree>
      <p:nvGrpSpPr>
        <p:cNvPr id="1" name=""/>
        <p:cNvGrpSpPr/>
        <p:nvPr/>
      </p:nvGrpSpPr>
      <p:grpSpPr/>
      <p:sp>
        <p:nvSpPr>
          <p:cNvPr id="2" name="TextBox 1"/>
          <p:cNvSpPr txBox="1"/>
          <p:nvPr/>
        </p:nvSpPr>
        <p:spPr>
          <a:xfrm>
            <a:off x="1188720" y="2103120"/>
            <a:ext cx="9784080" cy="2926080"/>
          </a:xfrm>
          <a:prstGeom prst="rect">
            <a:avLst/>
          </a:prstGeom>
          <a:noFill/>
        </p:spPr>
        <p:txBody>
          <a:bodyPr wrap="square" lIns="0" rIns="0" tIns="0" bIns="0">
            <a:spAutoFit/>
          </a:bodyPr>
          <a:lstStyle/>
          <a:p>
            <a:pPr algn="l">
              <a:spcBef>
                <a:spcPts val="0"/>
              </a:spcBef>
              <a:spcAft>
                <a:spcPts val="2000"/>
              </a:spcAft>
            </a:pPr>
            <a:r>
              <a:rPr sz="1300" b="1">
                <a:solidFill>
                  <a:srgbClr val="8AA393"/>
                </a:solidFill>
                <a:latin typeface="Aptos"/>
              </a:rPr>
              <a:t>PRÓXIMO PASO</a:t>
            </a:r>
          </a:p>
          <a:p>
            <a:pPr algn="l">
              <a:spcBef>
                <a:spcPts val="0"/>
              </a:spcBef>
              <a:spcAft>
                <a:spcPts val="2200"/>
              </a:spcAft>
            </a:pPr>
            <a:r>
              <a:rPr sz="3600" b="1">
                <a:solidFill>
                  <a:srgbClr val="FFFFFF"/>
                </a:solidFill>
                <a:latin typeface="Aptos"/>
              </a:rPr>
              <a:t>Ver el sistema andando</a:t>
            </a:r>
          </a:p>
          <a:p>
            <a:pPr algn="l">
              <a:spcBef>
                <a:spcPts val="0"/>
              </a:spcBef>
              <a:spcAft>
                <a:spcPts val="2600"/>
              </a:spcAft>
            </a:pPr>
            <a:r>
              <a:rPr sz="1700" b="0">
                <a:solidFill>
                  <a:srgbClr val="B9C8BF"/>
                </a:solidFill>
                <a:latin typeface="Aptos"/>
              </a:rPr>
              <a:t>Con la maestra de ustedes ya cargada: 34 agricultores, 37 lotes,
y los datos de trasplante de Altué adentro.</a:t>
            </a:r>
          </a:p>
          <a:p>
            <a:pPr algn="l">
              <a:spcBef>
                <a:spcPts val="0"/>
              </a:spcBef>
              <a:spcAft>
                <a:spcPts val="0"/>
              </a:spcAft>
            </a:pPr>
            <a:r>
              <a:rPr sz="1700" b="1">
                <a:solidFill>
                  <a:srgbClr val="5FC08D"/>
                </a:solidFill>
                <a:latin typeface="Aptos"/>
              </a:rPr>
              <a:t>Después, los tres datos que faltan y un audio real de terreno.</a:t>
            </a:r>
          </a:p>
        </p:txBody>
      </p:sp>
      <p:sp>
        <p:nvSpPr>
          <p:cNvPr id="3" name="TextBox 2"/>
          <p:cNvSpPr txBox="1"/>
          <p:nvPr/>
        </p:nvSpPr>
        <p:spPr>
          <a:xfrm>
            <a:off x="1188720" y="5852160"/>
            <a:ext cx="9784080" cy="457200"/>
          </a:xfrm>
          <a:prstGeom prst="rect">
            <a:avLst/>
          </a:prstGeom>
          <a:noFill/>
        </p:spPr>
        <p:txBody>
          <a:bodyPr wrap="square" lIns="0" rIns="0" tIns="0" bIns="0">
            <a:spAutoFit/>
          </a:bodyPr>
          <a:lstStyle/>
          <a:p>
            <a:pPr algn="l">
              <a:spcBef>
                <a:spcPts val="0"/>
              </a:spcBef>
              <a:spcAft>
                <a:spcPts val="0"/>
              </a:spcAft>
            </a:pPr>
            <a:r>
              <a:rPr sz="1200" b="0">
                <a:solidFill>
                  <a:srgbClr val="7E948A"/>
                </a:solidFill>
                <a:latin typeface="Aptos"/>
              </a:rPr>
              <a:t>adoOps  ·  Semillas Tuniche  ·  agosto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